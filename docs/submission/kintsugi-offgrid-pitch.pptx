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object in hand if you can: the snapped handle and the printed one. Kintsugi is an agent that designs 3D-printed replacement parts from phone photos — the difference from 'ask an LLM for the CAD' is that it measures, verifies and asks for what it still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personal version: the carry handle on my water bottle snapped at the ring. A 6 mm ring and a loop. Five minutes for someone who can measure a neck and write OpenSCAD; impossible for everyone else. And the naive LLM version fails in a specific way: it is plausible and it doesn't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and the user only does three of them: photos, a couple of readings, and looking at the result. Everything in between is the agent measuring, designing, checking and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the whole system is built around. Verification is executable, not interpretive: every dimension knows how to measure itself on the finished mesh. And the drawings the model looks at are generated from those measurements, so it cannot fake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follow-up loop is driven by a graph, not a prompt. missing() ranks what still needs evidence; plan_round() batches it into the fewest user actions; readiness() decides when designing is safe. The model's job is to write the instructions for this object — the arithmetic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engineering, in the sense of state-based graphs with defined inputs and outputs where agents or algorithms operate in the nodes. Declaring what depends on what gave us parallelism, traces, resumable human steps and the critical path for free — and the session flow itself is a guarded state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to the Responses API: function tools whose outputs are images so the model looks at its own blueprints; previous_response_id so the growing pile of sheets is uploaded once; reasoning effort tuned per role; JSON mode for the structured passes; vision in intake and the capture agent. Two models, two jobs: the designer grades itself generously, so a fresh-context critic that never sees the code is worth the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has a file behind it in eval/reports and tests/. The dagger marks numbers produced on the previous model provider; they are re-run on GPT-6 before submission and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thinking: the person does three things and looks at pictures. The guide never shows a blank screen — every stage has its one next action. And the finished part is not a file: it is a parametric designer like MakerWorld's, except every fit dimension shows where its number came from and warns before a check would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the same loop is a general verified-CAD agent; the product path is ordering, publishing and a fleet. And the credits have an obvious use: the benchmark harness is built, it just needs objects and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order matters: the verification toolchain came first and was tested on known geometry before any model was involved. The model was the last thing added, not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object: the printed handle on the bottle. Kintsugi — photograph what broke, print what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42E"/>
        </a:solidFill>
      </p:bgPr>
    </p:bg>
    <p:spTree>
      <p:nvGrpSpPr>
        <p:cNvPr id="1" name=""/>
        <p:cNvGrpSpPr/>
        <p:nvPr/>
      </p:nvGrpSpPr>
      <p:grpSpPr>
        <a:xfrm>
          <a:off x="0" y="0"/>
          <a:ext cx="0" cy="0"/>
          <a:chOff x="0" y="0"/>
          <a:chExt cx="0" cy="0"/>
        </a:xfrm>
      </p:grpSpPr>
      <p:pic>
        <p:nvPicPr>
          <p:cNvPr id="2" name="Image 0" descr="X:\Code\26Projects\kitsug\docs\submission\img\logo-mark.png">    </p:cNvPr>
          <p:cNvPicPr>
            <a:picLocks noChangeAspect="1"/>
          </p:cNvPicPr>
          <p:nvPr/>
        </p:nvPicPr>
        <p:blipFill>
          <a:blip r:embed="rId1"/>
          <a:stretch>
            <a:fillRect/>
          </a:stretch>
        </p:blipFill>
        <p:spPr>
          <a:xfrm>
            <a:off x="548640" y="1005840"/>
            <a:ext cx="822960" cy="822960"/>
          </a:xfrm>
          <a:prstGeom prst="rect">
            <a:avLst/>
          </a:prstGeom>
        </p:spPr>
      </p:pic>
      <p:sp>
        <p:nvSpPr>
          <p:cNvPr id="3" name="Text 0"/>
          <p:cNvSpPr txBox="1"/>
          <p:nvPr/>
        </p:nvSpPr>
        <p:spPr>
          <a:xfrm>
            <a:off x="1508760" y="960120"/>
            <a:ext cx="4572000" cy="914400"/>
          </a:xfrm>
          <a:prstGeom prst="rect">
            <a:avLst/>
          </a:prstGeom>
          <a:noFill/>
          <a:ln/>
        </p:spPr>
        <p:txBody>
          <a:bodyPr wrap="square" lIns="0" tIns="0" rIns="0" bIns="0" rtlCol="0" anchor="ctr"/>
          <a:lstStyle/>
          <a:p>
            <a:pPr indent="0" marL="0">
              <a:buNone/>
            </a:pPr>
            <a:r>
              <a:rPr lang="en-US" sz="5400" b="1" spc="600" kern="0" dirty="0">
                <a:solidFill>
                  <a:srgbClr val="F3F7FE"/>
                </a:solidFill>
                <a:latin typeface="Arial" pitchFamily="34" charset="0"/>
                <a:ea typeface="Arial" pitchFamily="34" charset="-122"/>
                <a:cs typeface="Arial" pitchFamily="34" charset="-120"/>
              </a:rPr>
              <a:t>KINTSUGI</a:t>
            </a:r>
            <a:endParaRPr lang="en-US" sz="5400" dirty="0"/>
          </a:p>
        </p:txBody>
      </p:sp>
      <p:sp>
        <p:nvSpPr>
          <p:cNvPr id="4" name="Text 1"/>
          <p:cNvSpPr txBox="1"/>
          <p:nvPr/>
        </p:nvSpPr>
        <p:spPr>
          <a:xfrm>
            <a:off x="548640" y="1828800"/>
            <a:ext cx="5120640" cy="548640"/>
          </a:xfrm>
          <a:prstGeom prst="rect">
            <a:avLst/>
          </a:prstGeom>
          <a:noFill/>
          <a:ln/>
        </p:spPr>
        <p:txBody>
          <a:bodyPr wrap="square" lIns="0" tIns="0" rIns="0" bIns="0" rtlCol="0" anchor="ctr"/>
          <a:lstStyle/>
          <a:p>
            <a:pPr indent="0" marL="0">
              <a:buNone/>
            </a:pPr>
            <a:r>
              <a:rPr lang="en-US" sz="2400" dirty="0">
                <a:solidFill>
                  <a:srgbClr val="6C9EF0"/>
                </a:solidFill>
                <a:latin typeface="Calibri" pitchFamily="34" charset="0"/>
                <a:ea typeface="Calibri" pitchFamily="34" charset="-122"/>
                <a:cs typeface="Calibri" pitchFamily="34" charset="-120"/>
              </a:rPr>
              <a:t>Photograph what broke. Print what fits.</a:t>
            </a:r>
            <a:endParaRPr lang="en-US" sz="2400" dirty="0"/>
          </a:p>
        </p:txBody>
      </p:sp>
      <p:sp>
        <p:nvSpPr>
          <p:cNvPr id="5" name="Text 2"/>
          <p:cNvSpPr txBox="1"/>
          <p:nvPr/>
        </p:nvSpPr>
        <p:spPr>
          <a:xfrm>
            <a:off x="548640" y="2468880"/>
            <a:ext cx="4846320" cy="914400"/>
          </a:xfrm>
          <a:prstGeom prst="rect">
            <a:avLst/>
          </a:prstGeom>
          <a:noFill/>
          <a:ln/>
        </p:spPr>
        <p:txBody>
          <a:bodyPr wrap="square" lIns="0" tIns="0" rIns="0" bIns="0" rtlCol="0" anchor="ctr"/>
          <a:lstStyle/>
          <a:p>
            <a:pPr indent="0" marL="0">
              <a:buNone/>
            </a:pPr>
            <a:r>
              <a:rPr lang="en-US" sz="1400" dirty="0">
                <a:solidFill>
                  <a:srgbClr val="BED4F9"/>
                </a:solidFill>
                <a:latin typeface="Calibri" pitchFamily="34" charset="0"/>
                <a:ea typeface="Calibri" pitchFamily="34" charset="-122"/>
                <a:cs typeface="Calibri" pitchFamily="34" charset="-120"/>
              </a:rPr>
              <a:t>An agent that turns phone photos of a broken part into a verified, printable replacement — and checks its own work like an engineer.</a:t>
            </a:r>
            <a:endParaRPr lang="en-US" sz="1400" dirty="0"/>
          </a:p>
        </p:txBody>
      </p:sp>
      <p:sp>
        <p:nvSpPr>
          <p:cNvPr id="6" name="Shape 3"/>
          <p:cNvSpPr/>
          <p:nvPr/>
        </p:nvSpPr>
        <p:spPr>
          <a:xfrm>
            <a:off x="548640" y="3739896"/>
            <a:ext cx="3291840" cy="0"/>
          </a:xfrm>
          <a:prstGeom prst="line">
            <a:avLst/>
          </a:prstGeom>
          <a:noFill/>
          <a:ln w="15875">
            <a:solidFill>
              <a:srgbClr val="6C9EF0"/>
            </a:solidFill>
            <a:prstDash val="solid"/>
            <a:headEnd type="triangle"/>
            <a:tailEnd type="triangle"/>
          </a:ln>
        </p:spPr>
      </p:sp>
      <p:sp>
        <p:nvSpPr>
          <p:cNvPr id="7" name="Shape 4"/>
          <p:cNvSpPr/>
          <p:nvPr/>
        </p:nvSpPr>
        <p:spPr>
          <a:xfrm>
            <a:off x="548640" y="3611880"/>
            <a:ext cx="0" cy="256032"/>
          </a:xfrm>
          <a:prstGeom prst="line">
            <a:avLst/>
          </a:prstGeom>
          <a:noFill/>
          <a:ln w="12700">
            <a:solidFill>
              <a:srgbClr val="6C9EF0"/>
            </a:solidFill>
            <a:prstDash val="solid"/>
          </a:ln>
        </p:spPr>
      </p:sp>
      <p:sp>
        <p:nvSpPr>
          <p:cNvPr id="8" name="Shape 5"/>
          <p:cNvSpPr/>
          <p:nvPr/>
        </p:nvSpPr>
        <p:spPr>
          <a:xfrm>
            <a:off x="3840480" y="3611880"/>
            <a:ext cx="0" cy="256032"/>
          </a:xfrm>
          <a:prstGeom prst="line">
            <a:avLst/>
          </a:prstGeom>
          <a:noFill/>
          <a:ln w="12700">
            <a:solidFill>
              <a:srgbClr val="6C9EF0"/>
            </a:solidFill>
            <a:prstDash val="solid"/>
          </a:ln>
        </p:spPr>
      </p:sp>
      <p:sp>
        <p:nvSpPr>
          <p:cNvPr id="9" name="Text 6"/>
          <p:cNvSpPr txBox="1"/>
          <p:nvPr/>
        </p:nvSpPr>
        <p:spPr>
          <a:xfrm>
            <a:off x="905256" y="3547872"/>
            <a:ext cx="2578608" cy="384048"/>
          </a:xfrm>
          <a:prstGeom prst="rect">
            <a:avLst/>
          </a:prstGeom>
          <a:solidFill>
            <a:srgbClr val="05142E"/>
          </a:solidFill>
          <a:ln/>
        </p:spPr>
        <p:txBody>
          <a:bodyPr wrap="square" lIns="0" tIns="0" rIns="0" bIns="0" rtlCol="0" anchor="ctr"/>
          <a:lstStyle/>
          <a:p>
            <a:pPr algn="ctr" indent="0" marL="0">
              <a:buNone/>
            </a:pPr>
            <a:r>
              <a:rPr lang="en-US" sz="1400" b="1" dirty="0">
                <a:solidFill>
                  <a:srgbClr val="6C9EF0"/>
                </a:solidFill>
                <a:latin typeface="Courier New" pitchFamily="34" charset="0"/>
                <a:ea typeface="Courier New" pitchFamily="34" charset="-122"/>
                <a:cs typeface="Courier New" pitchFamily="34" charset="-120"/>
              </a:rPr>
              <a:t>photos → spec → STL</a:t>
            </a:r>
            <a:endParaRPr lang="en-US" sz="1400" dirty="0"/>
          </a:p>
        </p:txBody>
      </p:sp>
      <p:sp>
        <p:nvSpPr>
          <p:cNvPr id="10" name="Text 7"/>
          <p:cNvSpPr txBox="1"/>
          <p:nvPr/>
        </p:nvSpPr>
        <p:spPr>
          <a:xfrm>
            <a:off x="548640" y="4206240"/>
            <a:ext cx="5120640" cy="502920"/>
          </a:xfrm>
          <a:prstGeom prst="rect">
            <a:avLst/>
          </a:prstGeom>
          <a:noFill/>
          <a:ln/>
        </p:spPr>
        <p:txBody>
          <a:bodyPr wrap="square" lIns="0" tIns="0" rIns="0" bIns="0" rtlCol="0" anchor="ctr"/>
          <a:lstStyle/>
          <a:p>
            <a:pPr indent="0" marL="0">
              <a:buNone/>
            </a:pPr>
            <a:r>
              <a:rPr lang="en-US" sz="1000" dirty="0">
                <a:solidFill>
                  <a:srgbClr val="BED4F9"/>
                </a:solidFill>
                <a:latin typeface="Courier New" pitchFamily="34" charset="0"/>
                <a:ea typeface="Courier New" pitchFamily="34" charset="-122"/>
                <a:cs typeface="Courier New" pitchFamily="34" charset="-120"/>
              </a:rPr>
              <a:t>HACK47: OFFGRID · September–October 2026</a:t>
            </a:r>
            <a:endParaRPr lang="en-US" sz="1000" dirty="0"/>
          </a:p>
          <a:p>
            <a:pPr indent="0" marL="0">
              <a:buNone/>
            </a:pPr>
            <a:r>
              <a:rPr lang="en-US" sz="1000" dirty="0">
                <a:solidFill>
                  <a:srgbClr val="BED4F9"/>
                </a:solidFill>
                <a:latin typeface="Courier New" pitchFamily="34" charset="0"/>
                <a:ea typeface="Courier New" pitchFamily="34" charset="-122"/>
                <a:cs typeface="Courier New" pitchFamily="34" charset="-120"/>
              </a:rPr>
              <a:t>Built on the OpenAI Responses API · GPT-6</a:t>
            </a:r>
            <a:endParaRPr lang="en-US" sz="1000" dirty="0"/>
          </a:p>
        </p:txBody>
      </p:sp>
      <p:sp>
        <p:nvSpPr>
          <p:cNvPr id="11" name="Text 8"/>
          <p:cNvSpPr txBox="1"/>
          <p:nvPr/>
        </p:nvSpPr>
        <p:spPr>
          <a:xfrm>
            <a:off x="6766560" y="4343400"/>
            <a:ext cx="1828800" cy="320040"/>
          </a:xfrm>
          <a:prstGeom prst="rect">
            <a:avLst/>
          </a:prstGeom>
          <a:noFill/>
          <a:ln/>
        </p:spPr>
        <p:txBody>
          <a:bodyPr wrap="square" lIns="0" tIns="0" rIns="0" bIns="0" rtlCol="0" anchor="ctr"/>
          <a:lstStyle/>
          <a:p>
            <a:pPr algn="r" indent="0" marL="0">
              <a:buNone/>
            </a:pPr>
            <a:r>
              <a:rPr lang="en-US" sz="1200" dirty="0">
                <a:solidFill>
                  <a:srgbClr val="BED4F9"/>
                </a:solidFill>
                <a:latin typeface="Calibri" pitchFamily="34" charset="0"/>
                <a:ea typeface="Calibri" pitchFamily="34" charset="-122"/>
                <a:cs typeface="Calibri" pitchFamily="34" charset="-120"/>
              </a:rPr>
              <a:t>Krish Gupta</a:t>
            </a:r>
            <a:endParaRPr lang="en-US" sz="1200" dirty="0"/>
          </a:p>
        </p:txBody>
      </p:sp>
      <p:sp>
        <p:nvSpPr>
          <p:cNvPr id="12" name="Shape 9"/>
          <p:cNvSpPr/>
          <p:nvPr/>
        </p:nvSpPr>
        <p:spPr>
          <a:xfrm>
            <a:off x="5861304" y="923544"/>
            <a:ext cx="2816352" cy="3136392"/>
          </a:xfrm>
          <a:prstGeom prst="roundRect">
            <a:avLst>
              <a:gd name="adj" fmla="val 1623"/>
            </a:avLst>
          </a:prstGeom>
          <a:solidFill>
            <a:srgbClr val="0B2049"/>
          </a:solidFill>
          <a:ln w="9525">
            <a:solidFill>
              <a:srgbClr val="2C4260"/>
            </a:solidFill>
            <a:prstDash val="solid"/>
          </a:ln>
        </p:spPr>
      </p:sp>
      <p:pic>
        <p:nvPicPr>
          <p:cNvPr id="13" name="Image 1" descr="X:\Code\26Projects\kitsug\docs\submission\img\assembly_iso.png">    </p:cNvPr>
          <p:cNvPicPr>
            <a:picLocks noChangeAspect="1"/>
          </p:cNvPicPr>
          <p:nvPr/>
        </p:nvPicPr>
        <p:blipFill>
          <a:blip r:embed="rId2"/>
          <a:srcRect l="0" r="0" t="0" b="0"/>
          <a:stretch/>
        </p:blipFill>
        <p:spPr>
          <a:xfrm>
            <a:off x="5897880" y="960120"/>
            <a:ext cx="2743200" cy="3063240"/>
          </a:xfrm>
          <a:prstGeom prst="rect">
            <a:avLst/>
          </a:prstGeom>
        </p:spPr>
      </p:pic>
      <p:sp>
        <p:nvSpPr>
          <p:cNvPr id="14" name="Text 10"/>
          <p:cNvSpPr txBox="1"/>
          <p:nvPr/>
        </p:nvSpPr>
        <p:spPr>
          <a:xfrm>
            <a:off x="5897880" y="4069080"/>
            <a:ext cx="2743200" cy="228600"/>
          </a:xfrm>
          <a:prstGeom prst="rect">
            <a:avLst/>
          </a:prstGeom>
          <a:noFill/>
          <a:ln/>
        </p:spPr>
        <p:txBody>
          <a:bodyPr wrap="square" lIns="0" tIns="0" rIns="0" bIns="0" rtlCol="0" anchor="ctr"/>
          <a:lstStyle/>
          <a:p>
            <a:pPr indent="0" marL="0">
              <a:buNone/>
            </a:pPr>
            <a:r>
              <a:rPr lang="en-US" sz="800" dirty="0">
                <a:solidFill>
                  <a:srgbClr val="BED4F9"/>
                </a:solidFill>
                <a:latin typeface="Courier New" pitchFamily="34" charset="0"/>
                <a:ea typeface="Courier New" pitchFamily="34" charset="-122"/>
                <a:cs typeface="Courier New" pitchFamily="34" charset="-120"/>
              </a:rPr>
              <a:t>assembly view · context ghosted · dimensions from the mesh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05142E"/>
                </a:solidFill>
                <a:latin typeface="Arial" pitchFamily="34" charset="0"/>
                <a:ea typeface="Arial" pitchFamily="34" charset="-122"/>
                <a:cs typeface="Arial" pitchFamily="34" charset="-120"/>
              </a:rPr>
              <a:t>It breaks at the one part that mattered.</a:t>
            </a:r>
            <a:endParaRPr lang="en-US" sz="3000" dirty="0"/>
          </a:p>
        </p:txBody>
      </p:sp>
      <p:sp>
        <p:nvSpPr>
          <p:cNvPr id="3" name="Shape 1"/>
          <p:cNvSpPr/>
          <p:nvPr/>
        </p:nvSpPr>
        <p:spPr>
          <a:xfrm>
            <a:off x="457200" y="1252728"/>
            <a:ext cx="475488" cy="475488"/>
          </a:xfrm>
          <a:prstGeom prst="ellipse">
            <a:avLst/>
          </a:prstGeom>
          <a:solidFill>
            <a:srgbClr val="F6E4E2"/>
          </a:solidFill>
          <a:ln w="12700">
            <a:solidFill>
              <a:srgbClr val="333333"/>
            </a:solidFill>
            <a:prstDash val="solid"/>
          </a:ln>
        </p:spPr>
      </p:sp>
      <p:pic>
        <p:nvPicPr>
          <p:cNvPr id="4" name="Image 0" descr="preencoded.png">    </p:cNvPr>
          <p:cNvPicPr>
            <a:picLocks noChangeAspect="1"/>
          </p:cNvPicPr>
          <p:nvPr/>
        </p:nvPicPr>
        <p:blipFill>
          <a:blip r:embed="rId1"/>
          <a:stretch>
            <a:fillRect/>
          </a:stretch>
        </p:blipFill>
        <p:spPr>
          <a:xfrm>
            <a:off x="566928" y="1362456"/>
            <a:ext cx="256032" cy="256032"/>
          </a:xfrm>
          <a:prstGeom prst="rect">
            <a:avLst/>
          </a:prstGeom>
        </p:spPr>
      </p:pic>
      <p:sp>
        <p:nvSpPr>
          <p:cNvPr id="5" name="Text 2"/>
          <p:cNvSpPr txBox="1"/>
          <p:nvPr/>
        </p:nvSpPr>
        <p:spPr>
          <a:xfrm>
            <a:off x="1097280" y="1234440"/>
            <a:ext cx="4206240" cy="502920"/>
          </a:xfrm>
          <a:prstGeom prst="rect">
            <a:avLst/>
          </a:prstGeom>
          <a:noFill/>
          <a:ln/>
        </p:spPr>
        <p:txBody>
          <a:bodyPr wrap="square" lIns="0" tIns="0" rIns="0" bIns="0" rtlCol="0" anchor="t"/>
          <a:lstStyle/>
          <a:p>
            <a:pPr indent="0" marL="0">
              <a:buNone/>
            </a:pPr>
            <a:r>
              <a:rPr lang="en-US" sz="1450" b="1" dirty="0">
                <a:solidFill>
                  <a:srgbClr val="05142E"/>
                </a:solidFill>
                <a:latin typeface="Calibri" pitchFamily="34" charset="0"/>
                <a:ea typeface="Calibri" pitchFamily="34" charset="-122"/>
                <a:cs typeface="Calibri" pitchFamily="34" charset="-120"/>
              </a:rPr>
              <a:t>The object still works. The part that fits it no longer exists.</a:t>
            </a:r>
            <a:endParaRPr lang="en-US" sz="1450" dirty="0"/>
          </a:p>
        </p:txBody>
      </p:sp>
      <p:sp>
        <p:nvSpPr>
          <p:cNvPr id="6" name="Text 3"/>
          <p:cNvSpPr txBox="1"/>
          <p:nvPr/>
        </p:nvSpPr>
        <p:spPr>
          <a:xfrm>
            <a:off x="1097280" y="1737360"/>
            <a:ext cx="4206240" cy="411480"/>
          </a:xfrm>
          <a:prstGeom prst="rect">
            <a:avLst/>
          </a:prstGeom>
          <a:noFill/>
          <a:ln/>
        </p:spPr>
        <p:txBody>
          <a:bodyPr wrap="square" lIns="0" tIns="0" rIns="0" bIns="0" rtlCol="0" anchor="t"/>
          <a:lstStyle/>
          <a:p>
            <a:pPr indent="0" marL="0">
              <a:buNone/>
            </a:pPr>
            <a:r>
              <a:rPr lang="en-US" sz="1200" dirty="0">
                <a:solidFill>
                  <a:srgbClr val="3C485C"/>
                </a:solidFill>
                <a:latin typeface="Calibri" pitchFamily="34" charset="0"/>
                <a:ea typeface="Calibri" pitchFamily="34" charset="-122"/>
                <a:cs typeface="Calibri" pitchFamily="34" charset="-120"/>
              </a:rPr>
              <a:t>A handle, a clip, a knob, a cap — small, specific, and the reason the whole thing is in the bin.</a:t>
            </a:r>
            <a:endParaRPr lang="en-US" sz="1200" dirty="0"/>
          </a:p>
        </p:txBody>
      </p:sp>
      <p:sp>
        <p:nvSpPr>
          <p:cNvPr id="7" name="Shape 4"/>
          <p:cNvSpPr/>
          <p:nvPr/>
        </p:nvSpPr>
        <p:spPr>
          <a:xfrm>
            <a:off x="457200" y="2304288"/>
            <a:ext cx="475488" cy="475488"/>
          </a:xfrm>
          <a:prstGeom prst="ellipse">
            <a:avLst/>
          </a:prstGeom>
          <a:solidFill>
            <a:srgbClr val="F5EBD3"/>
          </a:solidFill>
          <a:ln w="12700">
            <a:solidFill>
              <a:srgbClr val="333333"/>
            </a:solidFill>
            <a:prstDash val="solid"/>
          </a:ln>
        </p:spPr>
      </p:sp>
      <p:pic>
        <p:nvPicPr>
          <p:cNvPr id="8" name="Image 1" descr="preencoded.png">    </p:cNvPr>
          <p:cNvPicPr>
            <a:picLocks noChangeAspect="1"/>
          </p:cNvPicPr>
          <p:nvPr/>
        </p:nvPicPr>
        <p:blipFill>
          <a:blip r:embed="rId2"/>
          <a:stretch>
            <a:fillRect/>
          </a:stretch>
        </p:blipFill>
        <p:spPr>
          <a:xfrm>
            <a:off x="566928" y="2414016"/>
            <a:ext cx="256032" cy="256032"/>
          </a:xfrm>
          <a:prstGeom prst="rect">
            <a:avLst/>
          </a:prstGeom>
        </p:spPr>
      </p:pic>
      <p:sp>
        <p:nvSpPr>
          <p:cNvPr id="9" name="Text 5"/>
          <p:cNvSpPr txBox="1"/>
          <p:nvPr/>
        </p:nvSpPr>
        <p:spPr>
          <a:xfrm>
            <a:off x="1097280" y="2286000"/>
            <a:ext cx="4206240" cy="502920"/>
          </a:xfrm>
          <a:prstGeom prst="rect">
            <a:avLst/>
          </a:prstGeom>
          <a:noFill/>
          <a:ln/>
        </p:spPr>
        <p:txBody>
          <a:bodyPr wrap="square" lIns="0" tIns="0" rIns="0" bIns="0" rtlCol="0" anchor="t"/>
          <a:lstStyle/>
          <a:p>
            <a:pPr indent="0" marL="0">
              <a:buNone/>
            </a:pPr>
            <a:r>
              <a:rPr lang="en-US" sz="1450" b="1" dirty="0">
                <a:solidFill>
                  <a:srgbClr val="05142E"/>
                </a:solidFill>
                <a:latin typeface="Calibri" pitchFamily="34" charset="0"/>
                <a:ea typeface="Calibri" pitchFamily="34" charset="-122"/>
                <a:cs typeface="Calibri" pitchFamily="34" charset="-120"/>
              </a:rPr>
              <a:t>Replacement means shipping a whole new thing. Or nothing, off-grid.</a:t>
            </a:r>
            <a:endParaRPr lang="en-US" sz="1450" dirty="0"/>
          </a:p>
        </p:txBody>
      </p:sp>
      <p:sp>
        <p:nvSpPr>
          <p:cNvPr id="10" name="Text 6"/>
          <p:cNvSpPr txBox="1"/>
          <p:nvPr/>
        </p:nvSpPr>
        <p:spPr>
          <a:xfrm>
            <a:off x="1097280" y="2788920"/>
            <a:ext cx="4206240" cy="411480"/>
          </a:xfrm>
          <a:prstGeom prst="rect">
            <a:avLst/>
          </a:prstGeom>
          <a:noFill/>
          <a:ln/>
        </p:spPr>
        <p:txBody>
          <a:bodyPr wrap="square" lIns="0" tIns="0" rIns="0" bIns="0" rtlCol="0" anchor="t"/>
          <a:lstStyle/>
          <a:p>
            <a:pPr indent="0" marL="0">
              <a:buNone/>
            </a:pPr>
            <a:r>
              <a:rPr lang="en-US" sz="1200" dirty="0">
                <a:solidFill>
                  <a:srgbClr val="3C485C"/>
                </a:solidFill>
                <a:latin typeface="Calibri" pitchFamily="34" charset="0"/>
                <a:ea typeface="Calibri" pitchFamily="34" charset="-122"/>
                <a:cs typeface="Calibri" pitchFamily="34" charset="-120"/>
              </a:rPr>
              <a:t>The supply chain is the wrong size for a 6-gram part.</a:t>
            </a:r>
            <a:endParaRPr lang="en-US" sz="1200" dirty="0"/>
          </a:p>
        </p:txBody>
      </p:sp>
      <p:sp>
        <p:nvSpPr>
          <p:cNvPr id="11" name="Shape 7"/>
          <p:cNvSpPr/>
          <p:nvPr/>
        </p:nvSpPr>
        <p:spPr>
          <a:xfrm>
            <a:off x="457200" y="3355848"/>
            <a:ext cx="475488" cy="475488"/>
          </a:xfrm>
          <a:prstGeom prst="ellipse">
            <a:avLst/>
          </a:prstGeom>
          <a:solidFill>
            <a:srgbClr val="E2ECFC"/>
          </a:solidFill>
          <a:ln w="12700">
            <a:solidFill>
              <a:srgbClr val="333333"/>
            </a:solidFill>
            <a:prstDash val="solid"/>
          </a:ln>
        </p:spPr>
      </p:sp>
      <p:pic>
        <p:nvPicPr>
          <p:cNvPr id="12" name="Image 2" descr="preencoded.png">    </p:cNvPr>
          <p:cNvPicPr>
            <a:picLocks noChangeAspect="1"/>
          </p:cNvPicPr>
          <p:nvPr/>
        </p:nvPicPr>
        <p:blipFill>
          <a:blip r:embed="rId3"/>
          <a:stretch>
            <a:fillRect/>
          </a:stretch>
        </p:blipFill>
        <p:spPr>
          <a:xfrm>
            <a:off x="566928" y="3465576"/>
            <a:ext cx="256032" cy="256032"/>
          </a:xfrm>
          <a:prstGeom prst="rect">
            <a:avLst/>
          </a:prstGeom>
        </p:spPr>
      </p:pic>
      <p:sp>
        <p:nvSpPr>
          <p:cNvPr id="13" name="Text 8"/>
          <p:cNvSpPr txBox="1"/>
          <p:nvPr/>
        </p:nvSpPr>
        <p:spPr>
          <a:xfrm>
            <a:off x="1097280" y="3337560"/>
            <a:ext cx="4206240" cy="502920"/>
          </a:xfrm>
          <a:prstGeom prst="rect">
            <a:avLst/>
          </a:prstGeom>
          <a:noFill/>
          <a:ln/>
        </p:spPr>
        <p:txBody>
          <a:bodyPr wrap="square" lIns="0" tIns="0" rIns="0" bIns="0" rtlCol="0" anchor="t"/>
          <a:lstStyle/>
          <a:p>
            <a:pPr indent="0" marL="0">
              <a:buNone/>
            </a:pPr>
            <a:r>
              <a:rPr lang="en-US" sz="1450" b="1" dirty="0">
                <a:solidFill>
                  <a:srgbClr val="05142E"/>
                </a:solidFill>
                <a:latin typeface="Calibri" pitchFamily="34" charset="0"/>
                <a:ea typeface="Calibri" pitchFamily="34" charset="-122"/>
                <a:cs typeface="Calibri" pitchFamily="34" charset="-120"/>
              </a:rPr>
              <a:t>"Just ask an LLM for the OpenSCAD" gives you plausible code that is 1.5 mm out.</a:t>
            </a:r>
            <a:endParaRPr lang="en-US" sz="1450" dirty="0"/>
          </a:p>
        </p:txBody>
      </p:sp>
      <p:sp>
        <p:nvSpPr>
          <p:cNvPr id="14" name="Text 9"/>
          <p:cNvSpPr txBox="1"/>
          <p:nvPr/>
        </p:nvSpPr>
        <p:spPr>
          <a:xfrm>
            <a:off x="1097280" y="3840480"/>
            <a:ext cx="4206240" cy="411480"/>
          </a:xfrm>
          <a:prstGeom prst="rect">
            <a:avLst/>
          </a:prstGeom>
          <a:noFill/>
          <a:ln/>
        </p:spPr>
        <p:txBody>
          <a:bodyPr wrap="square" lIns="0" tIns="0" rIns="0" bIns="0" rtlCol="0" anchor="t"/>
          <a:lstStyle/>
          <a:p>
            <a:pPr indent="0" marL="0">
              <a:buNone/>
            </a:pPr>
            <a:r>
              <a:rPr lang="en-US" sz="1200" dirty="0">
                <a:solidFill>
                  <a:srgbClr val="3C485C"/>
                </a:solidFill>
                <a:latin typeface="Calibri" pitchFamily="34" charset="0"/>
                <a:ea typeface="Calibri" pitchFamily="34" charset="-122"/>
                <a:cs typeface="Calibri" pitchFamily="34" charset="-120"/>
              </a:rPr>
              <a:t>The model never sees what it built. Nobody measured anything.</a:t>
            </a:r>
            <a:endParaRPr lang="en-US" sz="1200" dirty="0"/>
          </a:p>
        </p:txBody>
      </p:sp>
      <p:sp>
        <p:nvSpPr>
          <p:cNvPr id="15" name="Shape 10"/>
          <p:cNvSpPr/>
          <p:nvPr/>
        </p:nvSpPr>
        <p:spPr>
          <a:xfrm>
            <a:off x="5669280" y="1188720"/>
            <a:ext cx="3017520" cy="3017520"/>
          </a:xfrm>
          <a:prstGeom prst="roundRect">
            <a:avLst>
              <a:gd name="adj" fmla="val 1818"/>
            </a:avLst>
          </a:prstGeom>
          <a:solidFill>
            <a:srgbClr val="FFFFFF"/>
          </a:solidFill>
          <a:ln w="12700">
            <a:solidFill>
              <a:srgbClr val="C9D6EC"/>
            </a:solidFill>
            <a:prstDash val="dash"/>
          </a:ln>
        </p:spPr>
      </p:sp>
      <p:pic>
        <p:nvPicPr>
          <p:cNvPr id="16" name="Image 3" descr="preencoded.png">    </p:cNvPr>
          <p:cNvPicPr>
            <a:picLocks noChangeAspect="1"/>
          </p:cNvPicPr>
          <p:nvPr/>
        </p:nvPicPr>
        <p:blipFill>
          <a:blip r:embed="rId4"/>
          <a:stretch>
            <a:fillRect/>
          </a:stretch>
        </p:blipFill>
        <p:spPr>
          <a:xfrm>
            <a:off x="6949440" y="2148840"/>
            <a:ext cx="457200" cy="457200"/>
          </a:xfrm>
          <a:prstGeom prst="rect">
            <a:avLst/>
          </a:prstGeom>
        </p:spPr>
      </p:pic>
      <p:sp>
        <p:nvSpPr>
          <p:cNvPr id="17" name="Text 11"/>
          <p:cNvSpPr txBox="1"/>
          <p:nvPr/>
        </p:nvSpPr>
        <p:spPr>
          <a:xfrm>
            <a:off x="5852160" y="2697480"/>
            <a:ext cx="2651760" cy="548640"/>
          </a:xfrm>
          <a:prstGeom prst="rect">
            <a:avLst/>
          </a:prstGeom>
          <a:noFill/>
          <a:ln/>
        </p:spPr>
        <p:txBody>
          <a:bodyPr wrap="square" lIns="0" tIns="0" rIns="0" bIns="0" rtlCol="0" anchor="ctr"/>
          <a:lstStyle/>
          <a:p>
            <a:pPr algn="ctr" indent="0" marL="0">
              <a:buNone/>
            </a:pPr>
            <a:r>
              <a:rPr lang="en-US" sz="900" dirty="0">
                <a:solidFill>
                  <a:srgbClr val="5B6982"/>
                </a:solidFill>
                <a:latin typeface="Courier New" pitchFamily="34" charset="0"/>
                <a:ea typeface="Courier New" pitchFamily="34" charset="-122"/>
                <a:cs typeface="Courier New" pitchFamily="34" charset="-120"/>
              </a:rPr>
              <a:t>[photo: the snapped handle on the bottle — replace]</a:t>
            </a:r>
            <a:endParaRPr lang="en-US" sz="900" dirty="0"/>
          </a:p>
        </p:txBody>
      </p:sp>
      <p:sp>
        <p:nvSpPr>
          <p:cNvPr id="18" name="Shape 12"/>
          <p:cNvSpPr/>
          <p:nvPr/>
        </p:nvSpPr>
        <p:spPr>
          <a:xfrm>
            <a:off x="5669280" y="4517136"/>
            <a:ext cx="3017520" cy="0"/>
          </a:xfrm>
          <a:prstGeom prst="line">
            <a:avLst/>
          </a:prstGeom>
          <a:noFill/>
          <a:ln w="15875">
            <a:solidFill>
              <a:srgbClr val="155DD3"/>
            </a:solidFill>
            <a:prstDash val="solid"/>
            <a:headEnd type="triangle"/>
            <a:tailEnd type="triangle"/>
          </a:ln>
        </p:spPr>
      </p:sp>
      <p:sp>
        <p:nvSpPr>
          <p:cNvPr id="19" name="Shape 13"/>
          <p:cNvSpPr/>
          <p:nvPr/>
        </p:nvSpPr>
        <p:spPr>
          <a:xfrm>
            <a:off x="5669280" y="4389120"/>
            <a:ext cx="0" cy="256032"/>
          </a:xfrm>
          <a:prstGeom prst="line">
            <a:avLst/>
          </a:prstGeom>
          <a:noFill/>
          <a:ln w="12700">
            <a:solidFill>
              <a:srgbClr val="155DD3"/>
            </a:solidFill>
            <a:prstDash val="solid"/>
          </a:ln>
        </p:spPr>
      </p:sp>
      <p:sp>
        <p:nvSpPr>
          <p:cNvPr id="20" name="Shape 14"/>
          <p:cNvSpPr/>
          <p:nvPr/>
        </p:nvSpPr>
        <p:spPr>
          <a:xfrm>
            <a:off x="8686800" y="4389120"/>
            <a:ext cx="0" cy="256032"/>
          </a:xfrm>
          <a:prstGeom prst="line">
            <a:avLst/>
          </a:prstGeom>
          <a:noFill/>
          <a:ln w="12700">
            <a:solidFill>
              <a:srgbClr val="155DD3"/>
            </a:solidFill>
            <a:prstDash val="solid"/>
          </a:ln>
        </p:spPr>
      </p:sp>
      <p:sp>
        <p:nvSpPr>
          <p:cNvPr id="21" name="Text 15"/>
          <p:cNvSpPr txBox="1"/>
          <p:nvPr/>
        </p:nvSpPr>
        <p:spPr>
          <a:xfrm>
            <a:off x="6272784" y="4325112"/>
            <a:ext cx="1810512" cy="384048"/>
          </a:xfrm>
          <a:prstGeom prst="rect">
            <a:avLst/>
          </a:prstGeom>
          <a:solidFill>
            <a:srgbClr val="F3F7FE"/>
          </a:solidFill>
          <a:ln/>
        </p:spPr>
        <p:txBody>
          <a:bodyPr wrap="square" lIns="0" tIns="0" rIns="0" bIns="0" rtlCol="0" anchor="ctr"/>
          <a:lstStyle/>
          <a:p>
            <a:pPr algn="ctr" indent="0" marL="0">
              <a:buNone/>
            </a:pPr>
            <a:r>
              <a:rPr lang="en-US" sz="1200" b="1" dirty="0">
                <a:solidFill>
                  <a:srgbClr val="155DD3"/>
                </a:solidFill>
                <a:latin typeface="Courier New" pitchFamily="34" charset="0"/>
                <a:ea typeface="Courier New" pitchFamily="34" charset="-122"/>
                <a:cs typeface="Courier New" pitchFamily="34" charset="-120"/>
              </a:rPr>
              <a:t>1 of 1 parts</a:t>
            </a:r>
            <a:endParaRPr lang="en-US" sz="1200" dirty="0"/>
          </a:p>
        </p:txBody>
      </p:sp>
      <p:sp>
        <p:nvSpPr>
          <p:cNvPr id="22" name="Text 16"/>
          <p:cNvSpPr txBox="1"/>
          <p:nvPr/>
        </p:nvSpPr>
        <p:spPr>
          <a:xfrm>
            <a:off x="5669280" y="4727448"/>
            <a:ext cx="301752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the one that broke</a:t>
            </a:r>
            <a:endParaRPr lang="en-US" sz="1100" dirty="0"/>
          </a:p>
        </p:txBody>
      </p:sp>
      <p:sp>
        <p:nvSpPr>
          <p:cNvPr id="23" name="Text 17"/>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850" dirty="0">
                <a:solidFill>
                  <a:srgbClr val="5B6982"/>
                </a:solidFill>
                <a:latin typeface="Courier New" pitchFamily="34" charset="0"/>
                <a:ea typeface="Courier New" pitchFamily="34" charset="-122"/>
                <a:cs typeface="Courier New" pitchFamily="34" charset="-120"/>
              </a:rPr>
              <a:t>Kintsugi — the repair is visible, and it is the point.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05142E"/>
                </a:solidFill>
                <a:latin typeface="Arial" pitchFamily="34" charset="0"/>
                <a:ea typeface="Arial" pitchFamily="34" charset="-122"/>
                <a:cs typeface="Arial" pitchFamily="34" charset="-120"/>
              </a:rPr>
              <a:t>Photograph what broke. Print what fits.</a:t>
            </a:r>
            <a:endParaRPr lang="en-US" sz="3000" dirty="0"/>
          </a:p>
        </p:txBody>
      </p:sp>
      <p:sp>
        <p:nvSpPr>
          <p:cNvPr id="3" name="Shape 1"/>
          <p:cNvSpPr/>
          <p:nvPr/>
        </p:nvSpPr>
        <p:spPr>
          <a:xfrm>
            <a:off x="457200" y="1143000"/>
            <a:ext cx="2606040" cy="1508760"/>
          </a:xfrm>
          <a:prstGeom prst="roundRect">
            <a:avLst>
              <a:gd name="adj" fmla="val 3636"/>
            </a:avLst>
          </a:prstGeom>
          <a:solidFill>
            <a:srgbClr val="FFFFFF"/>
          </a:solidFill>
          <a:ln w="9525">
            <a:solidFill>
              <a:srgbClr val="E1E9F5"/>
            </a:solidFill>
            <a:prstDash val="solid"/>
          </a:ln>
          <a:effectLst>
            <a:outerShdw sx="100000" sy="100000" kx="0" ky="0" algn="bl" rotWithShape="0" blurRad="50800" dist="12700" dir="5400000">
              <a:srgbClr val="000000">
                <a:alpha val="8000"/>
              </a:srgbClr>
            </a:outerShdw>
          </a:effectLst>
        </p:spPr>
      </p:sp>
      <p:sp>
        <p:nvSpPr>
          <p:cNvPr id="4" name="Shape 2"/>
          <p:cNvSpPr/>
          <p:nvPr/>
        </p:nvSpPr>
        <p:spPr>
          <a:xfrm>
            <a:off x="594360" y="1280160"/>
            <a:ext cx="310896" cy="310896"/>
          </a:xfrm>
          <a:prstGeom prst="ellipse">
            <a:avLst/>
          </a:prstGeom>
          <a:solidFill>
            <a:srgbClr val="155DD3"/>
          </a:solidFill>
          <a:ln w="12700">
            <a:solidFill>
              <a:srgbClr val="155DD3"/>
            </a:solidFill>
            <a:prstDash val="solid"/>
          </a:ln>
        </p:spPr>
      </p:sp>
      <p:sp>
        <p:nvSpPr>
          <p:cNvPr id="5" name="Text 3"/>
          <p:cNvSpPr txBox="1"/>
          <p:nvPr/>
        </p:nvSpPr>
        <p:spPr>
          <a:xfrm>
            <a:off x="59436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pic>
        <p:nvPicPr>
          <p:cNvPr id="6" name="Image 0" descr="preencoded.png">    </p:cNvPr>
          <p:cNvPicPr>
            <a:picLocks noChangeAspect="1"/>
          </p:cNvPicPr>
          <p:nvPr/>
        </p:nvPicPr>
        <p:blipFill>
          <a:blip r:embed="rId1"/>
          <a:stretch>
            <a:fillRect/>
          </a:stretch>
        </p:blipFill>
        <p:spPr>
          <a:xfrm>
            <a:off x="2651760" y="1298448"/>
            <a:ext cx="274320" cy="274320"/>
          </a:xfrm>
          <a:prstGeom prst="rect">
            <a:avLst/>
          </a:prstGeom>
        </p:spPr>
      </p:pic>
      <p:sp>
        <p:nvSpPr>
          <p:cNvPr id="7" name="Text 4"/>
          <p:cNvSpPr txBox="1"/>
          <p:nvPr/>
        </p:nvSpPr>
        <p:spPr>
          <a:xfrm>
            <a:off x="1005840" y="1252728"/>
            <a:ext cx="1645920" cy="365760"/>
          </a:xfrm>
          <a:prstGeom prst="rect">
            <a:avLst/>
          </a:prstGeom>
          <a:noFill/>
          <a:ln/>
        </p:spPr>
        <p:txBody>
          <a:bodyPr wrap="square" lIns="0" tIns="0" rIns="0" bIns="0" rtlCol="0" anchor="ctr"/>
          <a:lstStyle/>
          <a:p>
            <a:pPr indent="0" marL="0">
              <a:buNone/>
            </a:pPr>
            <a:r>
              <a:rPr lang="en-US" sz="1300" b="1" dirty="0">
                <a:solidFill>
                  <a:srgbClr val="05142E"/>
                </a:solidFill>
                <a:latin typeface="Arial" pitchFamily="34" charset="0"/>
                <a:ea typeface="Arial" pitchFamily="34" charset="-122"/>
                <a:cs typeface="Arial" pitchFamily="34" charset="-120"/>
              </a:rPr>
              <a:t>Intake</a:t>
            </a:r>
            <a:endParaRPr lang="en-US" sz="1300" dirty="0"/>
          </a:p>
        </p:txBody>
      </p:sp>
      <p:sp>
        <p:nvSpPr>
          <p:cNvPr id="8" name="Text 5"/>
          <p:cNvSpPr txBox="1"/>
          <p:nvPr/>
        </p:nvSpPr>
        <p:spPr>
          <a:xfrm>
            <a:off x="594360" y="1673352"/>
            <a:ext cx="2331720" cy="914400"/>
          </a:xfrm>
          <a:prstGeom prst="rect">
            <a:avLst/>
          </a:prstGeom>
          <a:noFill/>
          <a:ln/>
        </p:spPr>
        <p:txBody>
          <a:bodyPr wrap="square" lIns="0" tIns="0" rIns="0" bIns="0" rtlCol="0" anchor="t"/>
          <a:lstStyle/>
          <a:p>
            <a:pPr indent="0" marL="0">
              <a:buNone/>
            </a:pPr>
            <a:r>
              <a:rPr lang="en-US" sz="1050" dirty="0">
                <a:solidFill>
                  <a:srgbClr val="3C485C"/>
                </a:solidFill>
                <a:latin typeface="Calibri" pitchFamily="34" charset="0"/>
                <a:ea typeface="Calibri" pitchFamily="34" charset="-122"/>
                <a:cs typeface="Calibri" pitchFamily="34" charset="-120"/>
              </a:rPr>
              <a:t>Photos + one sentence → the part, the features it mates with, a draft spec. Standard sizes it recognises become first estimates.</a:t>
            </a:r>
            <a:endParaRPr lang="en-US" sz="1050" dirty="0"/>
          </a:p>
        </p:txBody>
      </p:sp>
      <p:sp>
        <p:nvSpPr>
          <p:cNvPr id="9" name="Shape 6"/>
          <p:cNvSpPr/>
          <p:nvPr/>
        </p:nvSpPr>
        <p:spPr>
          <a:xfrm>
            <a:off x="3246120" y="1143000"/>
            <a:ext cx="2606040" cy="1508760"/>
          </a:xfrm>
          <a:prstGeom prst="roundRect">
            <a:avLst>
              <a:gd name="adj" fmla="val 3636"/>
            </a:avLst>
          </a:prstGeom>
          <a:solidFill>
            <a:srgbClr val="FFFFFF"/>
          </a:solidFill>
          <a:ln w="9525">
            <a:solidFill>
              <a:srgbClr val="E1E9F5"/>
            </a:solidFill>
            <a:prstDash val="solid"/>
          </a:ln>
          <a:effectLst>
            <a:outerShdw sx="100000" sy="100000" kx="0" ky="0" algn="bl" rotWithShape="0" blurRad="50800" dist="12700" dir="5400000">
              <a:srgbClr val="000000">
                <a:alpha val="8000"/>
              </a:srgbClr>
            </a:outerShdw>
          </a:effectLst>
        </p:spPr>
      </p:sp>
      <p:sp>
        <p:nvSpPr>
          <p:cNvPr id="10" name="Shape 7"/>
          <p:cNvSpPr/>
          <p:nvPr/>
        </p:nvSpPr>
        <p:spPr>
          <a:xfrm>
            <a:off x="3383280" y="1280160"/>
            <a:ext cx="310896" cy="310896"/>
          </a:xfrm>
          <a:prstGeom prst="ellipse">
            <a:avLst/>
          </a:prstGeom>
          <a:solidFill>
            <a:srgbClr val="155DD3"/>
          </a:solidFill>
          <a:ln w="12700">
            <a:solidFill>
              <a:srgbClr val="155DD3"/>
            </a:solidFill>
            <a:prstDash val="solid"/>
          </a:ln>
        </p:spPr>
      </p:sp>
      <p:sp>
        <p:nvSpPr>
          <p:cNvPr id="11" name="Text 8"/>
          <p:cNvSpPr txBox="1"/>
          <p:nvPr/>
        </p:nvSpPr>
        <p:spPr>
          <a:xfrm>
            <a:off x="338328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pic>
        <p:nvPicPr>
          <p:cNvPr id="12" name="Image 1" descr="preencoded.png">    </p:cNvPr>
          <p:cNvPicPr>
            <a:picLocks noChangeAspect="1"/>
          </p:cNvPicPr>
          <p:nvPr/>
        </p:nvPicPr>
        <p:blipFill>
          <a:blip r:embed="rId2"/>
          <a:stretch>
            <a:fillRect/>
          </a:stretch>
        </p:blipFill>
        <p:spPr>
          <a:xfrm>
            <a:off x="5440680" y="1298448"/>
            <a:ext cx="274320" cy="274320"/>
          </a:xfrm>
          <a:prstGeom prst="rect">
            <a:avLst/>
          </a:prstGeom>
        </p:spPr>
      </p:pic>
      <p:sp>
        <p:nvSpPr>
          <p:cNvPr id="13" name="Text 9"/>
          <p:cNvSpPr txBox="1"/>
          <p:nvPr/>
        </p:nvSpPr>
        <p:spPr>
          <a:xfrm>
            <a:off x="3794760" y="1252728"/>
            <a:ext cx="1645920" cy="365760"/>
          </a:xfrm>
          <a:prstGeom prst="rect">
            <a:avLst/>
          </a:prstGeom>
          <a:noFill/>
          <a:ln/>
        </p:spPr>
        <p:txBody>
          <a:bodyPr wrap="square" lIns="0" tIns="0" rIns="0" bIns="0" rtlCol="0" anchor="ctr"/>
          <a:lstStyle/>
          <a:p>
            <a:pPr indent="0" marL="0">
              <a:buNone/>
            </a:pPr>
            <a:r>
              <a:rPr lang="en-US" sz="1300" b="1" dirty="0">
                <a:solidFill>
                  <a:srgbClr val="05142E"/>
                </a:solidFill>
                <a:latin typeface="Arial" pitchFamily="34" charset="0"/>
                <a:ea typeface="Arial" pitchFamily="34" charset="-122"/>
                <a:cs typeface="Arial" pitchFamily="34" charset="-120"/>
              </a:rPr>
              <a:t>Capture rounds</a:t>
            </a:r>
            <a:endParaRPr lang="en-US" sz="1300" dirty="0"/>
          </a:p>
        </p:txBody>
      </p:sp>
      <p:sp>
        <p:nvSpPr>
          <p:cNvPr id="14" name="Text 10"/>
          <p:cNvSpPr txBox="1"/>
          <p:nvPr/>
        </p:nvSpPr>
        <p:spPr>
          <a:xfrm>
            <a:off x="3383280" y="1673352"/>
            <a:ext cx="2331720" cy="914400"/>
          </a:xfrm>
          <a:prstGeom prst="rect">
            <a:avLst/>
          </a:prstGeom>
          <a:noFill/>
          <a:ln/>
        </p:spPr>
        <p:txBody>
          <a:bodyPr wrap="square" lIns="0" tIns="0" rIns="0" bIns="0" rtlCol="0" anchor="t"/>
          <a:lstStyle/>
          <a:p>
            <a:pPr indent="0" marL="0">
              <a:buNone/>
            </a:pPr>
            <a:r>
              <a:rPr lang="en-US" sz="1050" dirty="0">
                <a:solidFill>
                  <a:srgbClr val="3C485C"/>
                </a:solidFill>
                <a:latin typeface="Calibri" pitchFamily="34" charset="0"/>
                <a:ea typeface="Calibri" pitchFamily="34" charset="-122"/>
                <a:cs typeface="Calibri" pitchFamily="34" charset="-120"/>
              </a:rPr>
              <a:t>The evidence graph knows what is still a guess; the capture agent asks for the exact photo or ruler reading, measures uploads on a calibration sheet, stops when it knows enough.</a:t>
            </a:r>
            <a:endParaRPr lang="en-US" sz="1050" dirty="0"/>
          </a:p>
        </p:txBody>
      </p:sp>
      <p:sp>
        <p:nvSpPr>
          <p:cNvPr id="15" name="Shape 11"/>
          <p:cNvSpPr/>
          <p:nvPr/>
        </p:nvSpPr>
        <p:spPr>
          <a:xfrm>
            <a:off x="6035040" y="1143000"/>
            <a:ext cx="2606040" cy="1508760"/>
          </a:xfrm>
          <a:prstGeom prst="roundRect">
            <a:avLst>
              <a:gd name="adj" fmla="val 3636"/>
            </a:avLst>
          </a:prstGeom>
          <a:solidFill>
            <a:srgbClr val="FFFFFF"/>
          </a:solidFill>
          <a:ln w="9525">
            <a:solidFill>
              <a:srgbClr val="E1E9F5"/>
            </a:solidFill>
            <a:prstDash val="solid"/>
          </a:ln>
          <a:effectLst>
            <a:outerShdw sx="100000" sy="100000" kx="0" ky="0" algn="bl" rotWithShape="0" blurRad="50800" dist="12700" dir="5400000">
              <a:srgbClr val="000000">
                <a:alpha val="8000"/>
              </a:srgbClr>
            </a:outerShdw>
          </a:effectLst>
        </p:spPr>
      </p:sp>
      <p:sp>
        <p:nvSpPr>
          <p:cNvPr id="16" name="Shape 12"/>
          <p:cNvSpPr/>
          <p:nvPr/>
        </p:nvSpPr>
        <p:spPr>
          <a:xfrm>
            <a:off x="6172200" y="1280160"/>
            <a:ext cx="310896" cy="310896"/>
          </a:xfrm>
          <a:prstGeom prst="ellipse">
            <a:avLst/>
          </a:prstGeom>
          <a:solidFill>
            <a:srgbClr val="155DD3"/>
          </a:solidFill>
          <a:ln w="12700">
            <a:solidFill>
              <a:srgbClr val="155DD3"/>
            </a:solidFill>
            <a:prstDash val="solid"/>
          </a:ln>
        </p:spPr>
      </p:sp>
      <p:sp>
        <p:nvSpPr>
          <p:cNvPr id="17" name="Text 13"/>
          <p:cNvSpPr txBox="1"/>
          <p:nvPr/>
        </p:nvSpPr>
        <p:spPr>
          <a:xfrm>
            <a:off x="617220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pic>
        <p:nvPicPr>
          <p:cNvPr id="18" name="Image 2" descr="preencoded.png">    </p:cNvPr>
          <p:cNvPicPr>
            <a:picLocks noChangeAspect="1"/>
          </p:cNvPicPr>
          <p:nvPr/>
        </p:nvPicPr>
        <p:blipFill>
          <a:blip r:embed="rId3"/>
          <a:stretch>
            <a:fillRect/>
          </a:stretch>
        </p:blipFill>
        <p:spPr>
          <a:xfrm>
            <a:off x="8229600" y="1298448"/>
            <a:ext cx="274320" cy="274320"/>
          </a:xfrm>
          <a:prstGeom prst="rect">
            <a:avLst/>
          </a:prstGeom>
        </p:spPr>
      </p:pic>
      <p:sp>
        <p:nvSpPr>
          <p:cNvPr id="19" name="Text 14"/>
          <p:cNvSpPr txBox="1"/>
          <p:nvPr/>
        </p:nvSpPr>
        <p:spPr>
          <a:xfrm>
            <a:off x="6583680" y="1252728"/>
            <a:ext cx="1645920" cy="365760"/>
          </a:xfrm>
          <a:prstGeom prst="rect">
            <a:avLst/>
          </a:prstGeom>
          <a:noFill/>
          <a:ln/>
        </p:spPr>
        <p:txBody>
          <a:bodyPr wrap="square" lIns="0" tIns="0" rIns="0" bIns="0" rtlCol="0" anchor="ctr"/>
          <a:lstStyle/>
          <a:p>
            <a:pPr indent="0" marL="0">
              <a:buNone/>
            </a:pPr>
            <a:r>
              <a:rPr lang="en-US" sz="1300" b="1" dirty="0">
                <a:solidFill>
                  <a:srgbClr val="05142E"/>
                </a:solidFill>
                <a:latin typeface="Arial" pitchFamily="34" charset="0"/>
                <a:ea typeface="Arial" pitchFamily="34" charset="-122"/>
                <a:cs typeface="Arial" pitchFamily="34" charset="-120"/>
              </a:rPr>
              <a:t>Design loop</a:t>
            </a:r>
            <a:endParaRPr lang="en-US" sz="1300" dirty="0"/>
          </a:p>
        </p:txBody>
      </p:sp>
      <p:sp>
        <p:nvSpPr>
          <p:cNvPr id="20" name="Text 15"/>
          <p:cNvSpPr txBox="1"/>
          <p:nvPr/>
        </p:nvSpPr>
        <p:spPr>
          <a:xfrm>
            <a:off x="6172200" y="1673352"/>
            <a:ext cx="2331720" cy="914400"/>
          </a:xfrm>
          <a:prstGeom prst="rect">
            <a:avLst/>
          </a:prstGeom>
          <a:noFill/>
          <a:ln/>
        </p:spPr>
        <p:txBody>
          <a:bodyPr wrap="square" lIns="0" tIns="0" rIns="0" bIns="0" rtlCol="0" anchor="t"/>
          <a:lstStyle/>
          <a:p>
            <a:pPr indent="0" marL="0">
              <a:buNone/>
            </a:pPr>
            <a:r>
              <a:rPr lang="en-US" sz="1050" dirty="0">
                <a:solidFill>
                  <a:srgbClr val="3C485C"/>
                </a:solidFill>
                <a:latin typeface="Calibri" pitchFamily="34" charset="0"/>
                <a:ea typeface="Calibri" pitchFamily="34" charset="-122"/>
                <a:cs typeface="Calibri" pitchFamily="34" charset="-120"/>
              </a:rPr>
              <a:t>GPT-6 writes OpenSCAD; every spec dimension is measured on the exported mesh; blueprints carry those numbers as dimension lines it must look at.</a:t>
            </a:r>
            <a:endParaRPr lang="en-US" sz="1050" dirty="0"/>
          </a:p>
        </p:txBody>
      </p:sp>
      <p:sp>
        <p:nvSpPr>
          <p:cNvPr id="21" name="Shape 16"/>
          <p:cNvSpPr/>
          <p:nvPr/>
        </p:nvSpPr>
        <p:spPr>
          <a:xfrm>
            <a:off x="457200" y="2834640"/>
            <a:ext cx="2606040" cy="1508760"/>
          </a:xfrm>
          <a:prstGeom prst="roundRect">
            <a:avLst>
              <a:gd name="adj" fmla="val 3636"/>
            </a:avLst>
          </a:prstGeom>
          <a:solidFill>
            <a:srgbClr val="FFFFFF"/>
          </a:solidFill>
          <a:ln w="9525">
            <a:solidFill>
              <a:srgbClr val="E1E9F5"/>
            </a:solidFill>
            <a:prstDash val="solid"/>
          </a:ln>
          <a:effectLst>
            <a:outerShdw sx="100000" sy="100000" kx="0" ky="0" algn="bl" rotWithShape="0" blurRad="50800" dist="12700" dir="5400000">
              <a:srgbClr val="000000">
                <a:alpha val="8000"/>
              </a:srgbClr>
            </a:outerShdw>
          </a:effectLst>
        </p:spPr>
      </p:sp>
      <p:sp>
        <p:nvSpPr>
          <p:cNvPr id="22" name="Shape 17"/>
          <p:cNvSpPr/>
          <p:nvPr/>
        </p:nvSpPr>
        <p:spPr>
          <a:xfrm>
            <a:off x="594360" y="2971800"/>
            <a:ext cx="310896" cy="310896"/>
          </a:xfrm>
          <a:prstGeom prst="ellipse">
            <a:avLst/>
          </a:prstGeom>
          <a:solidFill>
            <a:srgbClr val="155DD3"/>
          </a:solidFill>
          <a:ln w="12700">
            <a:solidFill>
              <a:srgbClr val="155DD3"/>
            </a:solidFill>
            <a:prstDash val="solid"/>
          </a:ln>
        </p:spPr>
      </p:sp>
      <p:sp>
        <p:nvSpPr>
          <p:cNvPr id="23" name="Text 18"/>
          <p:cNvSpPr txBox="1"/>
          <p:nvPr/>
        </p:nvSpPr>
        <p:spPr>
          <a:xfrm>
            <a:off x="594360" y="2971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pic>
        <p:nvPicPr>
          <p:cNvPr id="24" name="Image 3" descr="preencoded.png">    </p:cNvPr>
          <p:cNvPicPr>
            <a:picLocks noChangeAspect="1"/>
          </p:cNvPicPr>
          <p:nvPr/>
        </p:nvPicPr>
        <p:blipFill>
          <a:blip r:embed="rId4"/>
          <a:stretch>
            <a:fillRect/>
          </a:stretch>
        </p:blipFill>
        <p:spPr>
          <a:xfrm>
            <a:off x="2651760" y="2990088"/>
            <a:ext cx="274320" cy="274320"/>
          </a:xfrm>
          <a:prstGeom prst="rect">
            <a:avLst/>
          </a:prstGeom>
        </p:spPr>
      </p:pic>
      <p:sp>
        <p:nvSpPr>
          <p:cNvPr id="25" name="Text 19"/>
          <p:cNvSpPr txBox="1"/>
          <p:nvPr/>
        </p:nvSpPr>
        <p:spPr>
          <a:xfrm>
            <a:off x="1005840" y="2944368"/>
            <a:ext cx="1645920" cy="365760"/>
          </a:xfrm>
          <a:prstGeom prst="rect">
            <a:avLst/>
          </a:prstGeom>
          <a:noFill/>
          <a:ln/>
        </p:spPr>
        <p:txBody>
          <a:bodyPr wrap="square" lIns="0" tIns="0" rIns="0" bIns="0" rtlCol="0" anchor="ctr"/>
          <a:lstStyle/>
          <a:p>
            <a:pPr indent="0" marL="0">
              <a:buNone/>
            </a:pPr>
            <a:r>
              <a:rPr lang="en-US" sz="1300" b="1" dirty="0">
                <a:solidFill>
                  <a:srgbClr val="05142E"/>
                </a:solidFill>
                <a:latin typeface="Arial" pitchFamily="34" charset="0"/>
                <a:ea typeface="Arial" pitchFamily="34" charset="-122"/>
                <a:cs typeface="Arial" pitchFamily="34" charset="-120"/>
              </a:rPr>
              <a:t>Code-blind critic</a:t>
            </a:r>
            <a:endParaRPr lang="en-US" sz="1300" dirty="0"/>
          </a:p>
        </p:txBody>
      </p:sp>
      <p:sp>
        <p:nvSpPr>
          <p:cNvPr id="26" name="Text 20"/>
          <p:cNvSpPr txBox="1"/>
          <p:nvPr/>
        </p:nvSpPr>
        <p:spPr>
          <a:xfrm>
            <a:off x="594360" y="3364992"/>
            <a:ext cx="2331720" cy="914400"/>
          </a:xfrm>
          <a:prstGeom prst="rect">
            <a:avLst/>
          </a:prstGeom>
          <a:noFill/>
          <a:ln/>
        </p:spPr>
        <p:txBody>
          <a:bodyPr wrap="square" lIns="0" tIns="0" rIns="0" bIns="0" rtlCol="0" anchor="t"/>
          <a:lstStyle/>
          <a:p>
            <a:pPr indent="0" marL="0">
              <a:buNone/>
            </a:pPr>
            <a:r>
              <a:rPr lang="en-US" sz="1050" dirty="0">
                <a:solidFill>
                  <a:srgbClr val="3C485C"/>
                </a:solidFill>
                <a:latin typeface="Calibri" pitchFamily="34" charset="0"/>
                <a:ea typeface="Calibri" pitchFamily="34" charset="-122"/>
                <a:cs typeface="Calibri" pitchFamily="34" charset="-120"/>
              </a:rPr>
              <a:t>A second model reviews drawings and checks — never the code — and sends the design back when the numbers pass but the part is wrong.</a:t>
            </a:r>
            <a:endParaRPr lang="en-US" sz="1050" dirty="0"/>
          </a:p>
        </p:txBody>
      </p:sp>
      <p:sp>
        <p:nvSpPr>
          <p:cNvPr id="27" name="Shape 21"/>
          <p:cNvSpPr/>
          <p:nvPr/>
        </p:nvSpPr>
        <p:spPr>
          <a:xfrm>
            <a:off x="3246120" y="2834640"/>
            <a:ext cx="2606040" cy="1508760"/>
          </a:xfrm>
          <a:prstGeom prst="roundRect">
            <a:avLst>
              <a:gd name="adj" fmla="val 3636"/>
            </a:avLst>
          </a:prstGeom>
          <a:solidFill>
            <a:srgbClr val="FFFFFF"/>
          </a:solidFill>
          <a:ln w="9525">
            <a:solidFill>
              <a:srgbClr val="E1E9F5"/>
            </a:solidFill>
            <a:prstDash val="solid"/>
          </a:ln>
          <a:effectLst>
            <a:outerShdw sx="100000" sy="100000" kx="0" ky="0" algn="bl" rotWithShape="0" blurRad="50800" dist="12700" dir="5400000">
              <a:srgbClr val="000000">
                <a:alpha val="8000"/>
              </a:srgbClr>
            </a:outerShdw>
          </a:effectLst>
        </p:spPr>
      </p:sp>
      <p:sp>
        <p:nvSpPr>
          <p:cNvPr id="28" name="Shape 22"/>
          <p:cNvSpPr/>
          <p:nvPr/>
        </p:nvSpPr>
        <p:spPr>
          <a:xfrm>
            <a:off x="3383280" y="2971800"/>
            <a:ext cx="310896" cy="310896"/>
          </a:xfrm>
          <a:prstGeom prst="ellipse">
            <a:avLst/>
          </a:prstGeom>
          <a:solidFill>
            <a:srgbClr val="155DD3"/>
          </a:solidFill>
          <a:ln w="12700">
            <a:solidFill>
              <a:srgbClr val="155DD3"/>
            </a:solidFill>
            <a:prstDash val="solid"/>
          </a:ln>
        </p:spPr>
      </p:sp>
      <p:sp>
        <p:nvSpPr>
          <p:cNvPr id="29" name="Text 23"/>
          <p:cNvSpPr txBox="1"/>
          <p:nvPr/>
        </p:nvSpPr>
        <p:spPr>
          <a:xfrm>
            <a:off x="3383280" y="2971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pic>
        <p:nvPicPr>
          <p:cNvPr id="30" name="Image 4" descr="preencoded.png">    </p:cNvPr>
          <p:cNvPicPr>
            <a:picLocks noChangeAspect="1"/>
          </p:cNvPicPr>
          <p:nvPr/>
        </p:nvPicPr>
        <p:blipFill>
          <a:blip r:embed="rId5"/>
          <a:stretch>
            <a:fillRect/>
          </a:stretch>
        </p:blipFill>
        <p:spPr>
          <a:xfrm>
            <a:off x="5440680" y="2990088"/>
            <a:ext cx="274320" cy="274320"/>
          </a:xfrm>
          <a:prstGeom prst="rect">
            <a:avLst/>
          </a:prstGeom>
        </p:spPr>
      </p:pic>
      <p:sp>
        <p:nvSpPr>
          <p:cNvPr id="31" name="Text 24"/>
          <p:cNvSpPr txBox="1"/>
          <p:nvPr/>
        </p:nvSpPr>
        <p:spPr>
          <a:xfrm>
            <a:off x="3794760" y="2944368"/>
            <a:ext cx="1645920" cy="365760"/>
          </a:xfrm>
          <a:prstGeom prst="rect">
            <a:avLst/>
          </a:prstGeom>
          <a:noFill/>
          <a:ln/>
        </p:spPr>
        <p:txBody>
          <a:bodyPr wrap="square" lIns="0" tIns="0" rIns="0" bIns="0" rtlCol="0" anchor="ctr"/>
          <a:lstStyle/>
          <a:p>
            <a:pPr indent="0" marL="0">
              <a:buNone/>
            </a:pPr>
            <a:r>
              <a:rPr lang="en-US" sz="1300" b="1" dirty="0">
                <a:solidFill>
                  <a:srgbClr val="05142E"/>
                </a:solidFill>
                <a:latin typeface="Arial" pitchFamily="34" charset="0"/>
                <a:ea typeface="Arial" pitchFamily="34" charset="-122"/>
                <a:cs typeface="Arial" pitchFamily="34" charset="-120"/>
              </a:rPr>
              <a:t>Fit coupon</a:t>
            </a:r>
            <a:endParaRPr lang="en-US" sz="1300" dirty="0"/>
          </a:p>
        </p:txBody>
      </p:sp>
      <p:sp>
        <p:nvSpPr>
          <p:cNvPr id="32" name="Text 25"/>
          <p:cNvSpPr txBox="1"/>
          <p:nvPr/>
        </p:nvSpPr>
        <p:spPr>
          <a:xfrm>
            <a:off x="3383280" y="3364992"/>
            <a:ext cx="2331720" cy="914400"/>
          </a:xfrm>
          <a:prstGeom prst="rect">
            <a:avLst/>
          </a:prstGeom>
          <a:noFill/>
          <a:ln/>
        </p:spPr>
        <p:txBody>
          <a:bodyPr wrap="square" lIns="0" tIns="0" rIns="0" bIns="0" rtlCol="0" anchor="t"/>
          <a:lstStyle/>
          <a:p>
            <a:pPr indent="0" marL="0">
              <a:buNone/>
            </a:pPr>
            <a:r>
              <a:rPr lang="en-US" sz="1050" dirty="0">
                <a:solidFill>
                  <a:srgbClr val="3C485C"/>
                </a:solidFill>
                <a:latin typeface="Calibri" pitchFamily="34" charset="0"/>
                <a:ea typeface="Calibri" pitchFamily="34" charset="-122"/>
                <a:cs typeface="Calibri" pitchFamily="34" charset="-120"/>
              </a:rPr>
              <a:t>The mating feature alone at three clearances, printed first. The one that slides on locks the clearance.</a:t>
            </a:r>
            <a:endParaRPr lang="en-US" sz="1050" dirty="0"/>
          </a:p>
        </p:txBody>
      </p:sp>
      <p:sp>
        <p:nvSpPr>
          <p:cNvPr id="33" name="Shape 26"/>
          <p:cNvSpPr/>
          <p:nvPr/>
        </p:nvSpPr>
        <p:spPr>
          <a:xfrm>
            <a:off x="6035040" y="2834640"/>
            <a:ext cx="2606040" cy="1508760"/>
          </a:xfrm>
          <a:prstGeom prst="roundRect">
            <a:avLst>
              <a:gd name="adj" fmla="val 3636"/>
            </a:avLst>
          </a:prstGeom>
          <a:solidFill>
            <a:srgbClr val="FFFFFF"/>
          </a:solidFill>
          <a:ln w="9525">
            <a:solidFill>
              <a:srgbClr val="E1E9F5"/>
            </a:solidFill>
            <a:prstDash val="solid"/>
          </a:ln>
          <a:effectLst>
            <a:outerShdw sx="100000" sy="100000" kx="0" ky="0" algn="bl" rotWithShape="0" blurRad="50800" dist="12700" dir="5400000">
              <a:srgbClr val="000000">
                <a:alpha val="8000"/>
              </a:srgbClr>
            </a:outerShdw>
          </a:effectLst>
        </p:spPr>
      </p:sp>
      <p:sp>
        <p:nvSpPr>
          <p:cNvPr id="34" name="Shape 27"/>
          <p:cNvSpPr/>
          <p:nvPr/>
        </p:nvSpPr>
        <p:spPr>
          <a:xfrm>
            <a:off x="6172200" y="2971800"/>
            <a:ext cx="310896" cy="310896"/>
          </a:xfrm>
          <a:prstGeom prst="ellipse">
            <a:avLst/>
          </a:prstGeom>
          <a:solidFill>
            <a:srgbClr val="155DD3"/>
          </a:solidFill>
          <a:ln w="12700">
            <a:solidFill>
              <a:srgbClr val="155DD3"/>
            </a:solidFill>
            <a:prstDash val="solid"/>
          </a:ln>
        </p:spPr>
      </p:sp>
      <p:sp>
        <p:nvSpPr>
          <p:cNvPr id="35" name="Text 28"/>
          <p:cNvSpPr txBox="1"/>
          <p:nvPr/>
        </p:nvSpPr>
        <p:spPr>
          <a:xfrm>
            <a:off x="6172200" y="2971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pic>
        <p:nvPicPr>
          <p:cNvPr id="36" name="Image 5" descr="preencoded.png">    </p:cNvPr>
          <p:cNvPicPr>
            <a:picLocks noChangeAspect="1"/>
          </p:cNvPicPr>
          <p:nvPr/>
        </p:nvPicPr>
        <p:blipFill>
          <a:blip r:embed="rId6"/>
          <a:stretch>
            <a:fillRect/>
          </a:stretch>
        </p:blipFill>
        <p:spPr>
          <a:xfrm>
            <a:off x="8229600" y="2990088"/>
            <a:ext cx="274320" cy="274320"/>
          </a:xfrm>
          <a:prstGeom prst="rect">
            <a:avLst/>
          </a:prstGeom>
        </p:spPr>
      </p:pic>
      <p:sp>
        <p:nvSpPr>
          <p:cNvPr id="37" name="Text 29"/>
          <p:cNvSpPr txBox="1"/>
          <p:nvPr/>
        </p:nvSpPr>
        <p:spPr>
          <a:xfrm>
            <a:off x="6583680" y="2944368"/>
            <a:ext cx="1645920" cy="365760"/>
          </a:xfrm>
          <a:prstGeom prst="rect">
            <a:avLst/>
          </a:prstGeom>
          <a:noFill/>
          <a:ln/>
        </p:spPr>
        <p:txBody>
          <a:bodyPr wrap="square" lIns="0" tIns="0" rIns="0" bIns="0" rtlCol="0" anchor="ctr"/>
          <a:lstStyle/>
          <a:p>
            <a:pPr indent="0" marL="0">
              <a:buNone/>
            </a:pPr>
            <a:r>
              <a:rPr lang="en-US" sz="1300" b="1" dirty="0">
                <a:solidFill>
                  <a:srgbClr val="05142E"/>
                </a:solidFill>
                <a:latin typeface="Arial" pitchFamily="34" charset="0"/>
                <a:ea typeface="Arial" pitchFamily="34" charset="-122"/>
                <a:cs typeface="Arial" pitchFamily="34" charset="-120"/>
              </a:rPr>
              <a:t>Export</a:t>
            </a:r>
            <a:endParaRPr lang="en-US" sz="1300" dirty="0"/>
          </a:p>
        </p:txBody>
      </p:sp>
      <p:sp>
        <p:nvSpPr>
          <p:cNvPr id="38" name="Text 30"/>
          <p:cNvSpPr txBox="1"/>
          <p:nvPr/>
        </p:nvSpPr>
        <p:spPr>
          <a:xfrm>
            <a:off x="6172200" y="3364992"/>
            <a:ext cx="2331720" cy="914400"/>
          </a:xfrm>
          <a:prstGeom prst="rect">
            <a:avLst/>
          </a:prstGeom>
          <a:noFill/>
          <a:ln/>
        </p:spPr>
        <p:txBody>
          <a:bodyPr wrap="square" lIns="0" tIns="0" rIns="0" bIns="0" rtlCol="0" anchor="t"/>
          <a:lstStyle/>
          <a:p>
            <a:pPr indent="0" marL="0">
              <a:buNone/>
            </a:pPr>
            <a:r>
              <a:rPr lang="en-US" sz="1050" dirty="0">
                <a:solidFill>
                  <a:srgbClr val="3C485C"/>
                </a:solidFill>
                <a:latin typeface="Calibri" pitchFamily="34" charset="0"/>
                <a:ea typeface="Calibri" pitchFamily="34" charset="-122"/>
                <a:cs typeface="Calibri" pitchFamily="34" charset="-120"/>
              </a:rPr>
              <a:t>Oriented STL/3MF, a customizer-ready .scad (every dimension a slider), blueprint PDF, a print card that says why.</a:t>
            </a:r>
            <a:endParaRPr lang="en-US" sz="1050" dirty="0"/>
          </a:p>
        </p:txBody>
      </p:sp>
      <p:sp>
        <p:nvSpPr>
          <p:cNvPr id="39" name="Text 31"/>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850" dirty="0">
                <a:solidFill>
                  <a:srgbClr val="5B6982"/>
                </a:solidFill>
                <a:latin typeface="Courier New" pitchFamily="34" charset="0"/>
                <a:ea typeface="Courier New" pitchFamily="34" charset="-122"/>
                <a:cs typeface="Courier New" pitchFamily="34" charset="-120"/>
              </a:rPr>
              <a:t>web app · phone-friendly capture · runs locally with your OpenAI key · demo mode needs no key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05142E"/>
                </a:solidFill>
                <a:latin typeface="Arial" pitchFamily="34" charset="0"/>
                <a:ea typeface="Arial" pitchFamily="34" charset="-122"/>
                <a:cs typeface="Arial" pitchFamily="34" charset="-120"/>
              </a:rPr>
              <a:t>The model never grades its own homework.</a:t>
            </a:r>
            <a:endParaRPr lang="en-US" sz="3000" dirty="0"/>
          </a:p>
        </p:txBody>
      </p:sp>
      <p:sp>
        <p:nvSpPr>
          <p:cNvPr id="3" name="Shape 1"/>
          <p:cNvSpPr/>
          <p:nvPr/>
        </p:nvSpPr>
        <p:spPr>
          <a:xfrm>
            <a:off x="420624" y="1106424"/>
            <a:ext cx="4919472" cy="2862072"/>
          </a:xfrm>
          <a:prstGeom prst="roundRect">
            <a:avLst>
              <a:gd name="adj" fmla="val 1597"/>
            </a:avLst>
          </a:prstGeom>
          <a:solidFill>
            <a:srgbClr val="FFFFFF"/>
          </a:solidFill>
          <a:ln w="9525">
            <a:solidFill>
              <a:srgbClr val="C9D6EC"/>
            </a:solidFill>
            <a:prstDash val="solid"/>
          </a:ln>
        </p:spPr>
      </p:sp>
      <p:pic>
        <p:nvPicPr>
          <p:cNvPr id="4" name="Image 0" descr="X:\Code\26Projects\kitsug\docs\submission\img\section_aa.png">    </p:cNvPr>
          <p:cNvPicPr>
            <a:picLocks noChangeAspect="1"/>
          </p:cNvPicPr>
          <p:nvPr/>
        </p:nvPicPr>
        <p:blipFill>
          <a:blip r:embed="rId1"/>
          <a:srcRect l="0" r="0" t="0" b="0"/>
          <a:stretch/>
        </p:blipFill>
        <p:spPr>
          <a:xfrm>
            <a:off x="457200" y="1143000"/>
            <a:ext cx="4846320" cy="2788920"/>
          </a:xfrm>
          <a:prstGeom prst="rect">
            <a:avLst/>
          </a:prstGeom>
        </p:spPr>
      </p:pic>
      <p:sp>
        <p:nvSpPr>
          <p:cNvPr id="5" name="Text 2"/>
          <p:cNvSpPr txBox="1"/>
          <p:nvPr/>
        </p:nvSpPr>
        <p:spPr>
          <a:xfrm>
            <a:off x="457200" y="3977640"/>
            <a:ext cx="4846320" cy="548640"/>
          </a:xfrm>
          <a:prstGeom prst="rect">
            <a:avLst/>
          </a:prstGeom>
          <a:noFill/>
          <a:ln/>
        </p:spPr>
        <p:txBody>
          <a:bodyPr wrap="square" lIns="0" tIns="0" rIns="0" bIns="0" rtlCol="0" anchor="ctr"/>
          <a:lstStyle/>
          <a:p>
            <a:pPr indent="0" marL="0">
              <a:buNone/>
            </a:pPr>
            <a:r>
              <a:rPr lang="en-US" sz="950" i="1" dirty="0">
                <a:solidFill>
                  <a:srgbClr val="5B6982"/>
                </a:solidFill>
                <a:latin typeface="Calibri" pitchFamily="34" charset="0"/>
                <a:ea typeface="Calibri" pitchFamily="34" charset="-122"/>
                <a:cs typeface="Calibri" pitchFamily="34" charset="-120"/>
              </a:rPr>
              <a:t>SECTION A-A of iteration 1 — the bore is measured on the mesh at 43.45 mm against 43.25 ± 0.3 (43 + 0.25 clearance); the label is green because it passed, and the model sees exactly this picture.</a:t>
            </a:r>
            <a:endParaRPr lang="en-US" sz="950" dirty="0"/>
          </a:p>
        </p:txBody>
      </p:sp>
      <p:sp>
        <p:nvSpPr>
          <p:cNvPr id="6" name="Shape 3"/>
          <p:cNvSpPr/>
          <p:nvPr/>
        </p:nvSpPr>
        <p:spPr>
          <a:xfrm>
            <a:off x="5577840" y="1161288"/>
            <a:ext cx="384048" cy="384048"/>
          </a:xfrm>
          <a:prstGeom prst="ellipse">
            <a:avLst/>
          </a:prstGeom>
          <a:solidFill>
            <a:srgbClr val="E2ECFC"/>
          </a:solidFill>
          <a:ln w="12700">
            <a:solidFill>
              <a:srgbClr val="333333"/>
            </a:solidFill>
            <a:prstDash val="solid"/>
          </a:ln>
        </p:spPr>
      </p:sp>
      <p:pic>
        <p:nvPicPr>
          <p:cNvPr id="7" name="Image 1" descr="preencoded.png">    </p:cNvPr>
          <p:cNvPicPr>
            <a:picLocks noChangeAspect="1"/>
          </p:cNvPicPr>
          <p:nvPr/>
        </p:nvPicPr>
        <p:blipFill>
          <a:blip r:embed="rId2"/>
          <a:stretch>
            <a:fillRect/>
          </a:stretch>
        </p:blipFill>
        <p:spPr>
          <a:xfrm>
            <a:off x="5669280" y="1252728"/>
            <a:ext cx="201168" cy="201168"/>
          </a:xfrm>
          <a:prstGeom prst="rect">
            <a:avLst/>
          </a:prstGeom>
        </p:spPr>
      </p:pic>
      <p:sp>
        <p:nvSpPr>
          <p:cNvPr id="8" name="Text 4"/>
          <p:cNvSpPr txBox="1"/>
          <p:nvPr/>
        </p:nvSpPr>
        <p:spPr>
          <a:xfrm>
            <a:off x="6080760" y="1143000"/>
            <a:ext cx="2606040" cy="274320"/>
          </a:xfrm>
          <a:prstGeom prst="rect">
            <a:avLst/>
          </a:prstGeom>
          <a:noFill/>
          <a:ln/>
        </p:spPr>
        <p:txBody>
          <a:bodyPr wrap="square" lIns="0" tIns="0" rIns="0" bIns="0" rtlCol="0" anchor="ctr"/>
          <a:lstStyle/>
          <a:p>
            <a:pPr indent="0" marL="0">
              <a:buNone/>
            </a:pPr>
            <a:r>
              <a:rPr lang="en-US" sz="1300" b="1" dirty="0">
                <a:solidFill>
                  <a:srgbClr val="05142E"/>
                </a:solidFill>
                <a:latin typeface="Calibri" pitchFamily="34" charset="0"/>
                <a:ea typeface="Calibri" pitchFamily="34" charset="-122"/>
                <a:cs typeface="Calibri" pitchFamily="34" charset="-120"/>
              </a:rPr>
              <a:t>Measured, never trusted</a:t>
            </a:r>
            <a:endParaRPr lang="en-US" sz="1300" dirty="0"/>
          </a:p>
        </p:txBody>
      </p:sp>
      <p:sp>
        <p:nvSpPr>
          <p:cNvPr id="9" name="Text 5"/>
          <p:cNvSpPr txBox="1"/>
          <p:nvPr/>
        </p:nvSpPr>
        <p:spPr>
          <a:xfrm>
            <a:off x="6080760" y="1417320"/>
            <a:ext cx="2606040" cy="621792"/>
          </a:xfrm>
          <a:prstGeom prst="rect">
            <a:avLst/>
          </a:prstGeom>
          <a:noFill/>
          <a:ln/>
        </p:spPr>
        <p:txBody>
          <a:bodyPr wrap="square" lIns="0" tIns="0" rIns="0" bIns="0" rtlCol="0" anchor="ctr"/>
          <a:lstStyle/>
          <a:p>
            <a:pPr indent="0" marL="0">
              <a:buNone/>
            </a:pPr>
            <a:r>
              <a:rPr lang="en-US" sz="1000" dirty="0">
                <a:solidFill>
                  <a:srgbClr val="3C485C"/>
                </a:solidFill>
                <a:latin typeface="Calibri" pitchFamily="34" charset="0"/>
                <a:ea typeface="Calibri" pitchFamily="34" charset="-122"/>
                <a:cs typeface="Calibri" pitchFamily="34" charset="-120"/>
              </a:rPr>
              <a:t>A Part Spec dimension carries a measure recipe (circle fit at z = 3, hole extent along x, gap, notch mouth…). The checker runs it on the exported STL.</a:t>
            </a:r>
            <a:endParaRPr lang="en-US" sz="1000" dirty="0"/>
          </a:p>
        </p:txBody>
      </p:sp>
      <p:sp>
        <p:nvSpPr>
          <p:cNvPr id="10" name="Shape 6"/>
          <p:cNvSpPr/>
          <p:nvPr/>
        </p:nvSpPr>
        <p:spPr>
          <a:xfrm>
            <a:off x="5577840" y="2075688"/>
            <a:ext cx="384048" cy="384048"/>
          </a:xfrm>
          <a:prstGeom prst="ellipse">
            <a:avLst/>
          </a:prstGeom>
          <a:solidFill>
            <a:srgbClr val="E2ECFC"/>
          </a:solidFill>
          <a:ln w="12700">
            <a:solidFill>
              <a:srgbClr val="333333"/>
            </a:solidFill>
            <a:prstDash val="solid"/>
          </a:ln>
        </p:spPr>
      </p:sp>
      <p:pic>
        <p:nvPicPr>
          <p:cNvPr id="11" name="Image 2" descr="preencoded.png">    </p:cNvPr>
          <p:cNvPicPr>
            <a:picLocks noChangeAspect="1"/>
          </p:cNvPicPr>
          <p:nvPr/>
        </p:nvPicPr>
        <p:blipFill>
          <a:blip r:embed="rId3"/>
          <a:stretch>
            <a:fillRect/>
          </a:stretch>
        </p:blipFill>
        <p:spPr>
          <a:xfrm>
            <a:off x="5669280" y="2167128"/>
            <a:ext cx="201168" cy="201168"/>
          </a:xfrm>
          <a:prstGeom prst="rect">
            <a:avLst/>
          </a:prstGeom>
        </p:spPr>
      </p:pic>
      <p:sp>
        <p:nvSpPr>
          <p:cNvPr id="12" name="Text 7"/>
          <p:cNvSpPr txBox="1"/>
          <p:nvPr/>
        </p:nvSpPr>
        <p:spPr>
          <a:xfrm>
            <a:off x="6080760" y="2057400"/>
            <a:ext cx="2606040" cy="274320"/>
          </a:xfrm>
          <a:prstGeom prst="rect">
            <a:avLst/>
          </a:prstGeom>
          <a:noFill/>
          <a:ln/>
        </p:spPr>
        <p:txBody>
          <a:bodyPr wrap="square" lIns="0" tIns="0" rIns="0" bIns="0" rtlCol="0" anchor="ctr"/>
          <a:lstStyle/>
          <a:p>
            <a:pPr indent="0" marL="0">
              <a:buNone/>
            </a:pPr>
            <a:r>
              <a:rPr lang="en-US" sz="1300" b="1" dirty="0">
                <a:solidFill>
                  <a:srgbClr val="05142E"/>
                </a:solidFill>
                <a:latin typeface="Calibri" pitchFamily="34" charset="0"/>
                <a:ea typeface="Calibri" pitchFamily="34" charset="-122"/>
                <a:cs typeface="Calibri" pitchFamily="34" charset="-120"/>
              </a:rPr>
              <a:t>Drawn from the measurement</a:t>
            </a:r>
            <a:endParaRPr lang="en-US" sz="1300" dirty="0"/>
          </a:p>
        </p:txBody>
      </p:sp>
      <p:sp>
        <p:nvSpPr>
          <p:cNvPr id="13" name="Text 8"/>
          <p:cNvSpPr txBox="1"/>
          <p:nvPr/>
        </p:nvSpPr>
        <p:spPr>
          <a:xfrm>
            <a:off x="6080760" y="2331720"/>
            <a:ext cx="2606040" cy="621792"/>
          </a:xfrm>
          <a:prstGeom prst="rect">
            <a:avLst/>
          </a:prstGeom>
          <a:noFill/>
          <a:ln/>
        </p:spPr>
        <p:txBody>
          <a:bodyPr wrap="square" lIns="0" tIns="0" rIns="0" bIns="0" rtlCol="0" anchor="ctr"/>
          <a:lstStyle/>
          <a:p>
            <a:pPr indent="0" marL="0">
              <a:buNone/>
            </a:pPr>
            <a:r>
              <a:rPr lang="en-US" sz="1000" dirty="0">
                <a:solidFill>
                  <a:srgbClr val="3C485C"/>
                </a:solidFill>
                <a:latin typeface="Calibri" pitchFamily="34" charset="0"/>
                <a:ea typeface="Calibri" pitchFamily="34" charset="-122"/>
                <a:cs typeface="Calibri" pitchFamily="34" charset="-120"/>
              </a:rPr>
              <a:t>Views, sections and assembly sheets with dimension lines computed from the mesh, in pass/fail colour. The model must look before it changes anything.</a:t>
            </a:r>
            <a:endParaRPr lang="en-US" sz="1000" dirty="0"/>
          </a:p>
        </p:txBody>
      </p:sp>
      <p:sp>
        <p:nvSpPr>
          <p:cNvPr id="14" name="Shape 9"/>
          <p:cNvSpPr/>
          <p:nvPr/>
        </p:nvSpPr>
        <p:spPr>
          <a:xfrm>
            <a:off x="5577840" y="2990088"/>
            <a:ext cx="384048" cy="384048"/>
          </a:xfrm>
          <a:prstGeom prst="ellipse">
            <a:avLst/>
          </a:prstGeom>
          <a:solidFill>
            <a:srgbClr val="E2ECFC"/>
          </a:solidFill>
          <a:ln w="12700">
            <a:solidFill>
              <a:srgbClr val="333333"/>
            </a:solidFill>
            <a:prstDash val="solid"/>
          </a:ln>
        </p:spPr>
      </p:sp>
      <p:pic>
        <p:nvPicPr>
          <p:cNvPr id="15" name="Image 3" descr="preencoded.png">    </p:cNvPr>
          <p:cNvPicPr>
            <a:picLocks noChangeAspect="1"/>
          </p:cNvPicPr>
          <p:nvPr/>
        </p:nvPicPr>
        <p:blipFill>
          <a:blip r:embed="rId4"/>
          <a:stretch>
            <a:fillRect/>
          </a:stretch>
        </p:blipFill>
        <p:spPr>
          <a:xfrm>
            <a:off x="5669280" y="3081528"/>
            <a:ext cx="201168" cy="201168"/>
          </a:xfrm>
          <a:prstGeom prst="rect">
            <a:avLst/>
          </a:prstGeom>
        </p:spPr>
      </p:pic>
      <p:sp>
        <p:nvSpPr>
          <p:cNvPr id="16" name="Text 10"/>
          <p:cNvSpPr txBox="1"/>
          <p:nvPr/>
        </p:nvSpPr>
        <p:spPr>
          <a:xfrm>
            <a:off x="6080760" y="2971800"/>
            <a:ext cx="2606040" cy="274320"/>
          </a:xfrm>
          <a:prstGeom prst="rect">
            <a:avLst/>
          </a:prstGeom>
          <a:noFill/>
          <a:ln/>
        </p:spPr>
        <p:txBody>
          <a:bodyPr wrap="square" lIns="0" tIns="0" rIns="0" bIns="0" rtlCol="0" anchor="ctr"/>
          <a:lstStyle/>
          <a:p>
            <a:pPr indent="0" marL="0">
              <a:buNone/>
            </a:pPr>
            <a:r>
              <a:rPr lang="en-US" sz="1300" b="1" dirty="0">
                <a:solidFill>
                  <a:srgbClr val="05142E"/>
                </a:solidFill>
                <a:latin typeface="Calibri" pitchFamily="34" charset="0"/>
                <a:ea typeface="Calibri" pitchFamily="34" charset="-122"/>
                <a:cs typeface="Calibri" pitchFamily="34" charset="-120"/>
              </a:rPr>
              <a:t>Reviewed without the code</a:t>
            </a:r>
            <a:endParaRPr lang="en-US" sz="1300" dirty="0"/>
          </a:p>
        </p:txBody>
      </p:sp>
      <p:sp>
        <p:nvSpPr>
          <p:cNvPr id="17" name="Text 11"/>
          <p:cNvSpPr txBox="1"/>
          <p:nvPr/>
        </p:nvSpPr>
        <p:spPr>
          <a:xfrm>
            <a:off x="6080760" y="3246120"/>
            <a:ext cx="2606040" cy="621792"/>
          </a:xfrm>
          <a:prstGeom prst="rect">
            <a:avLst/>
          </a:prstGeom>
          <a:noFill/>
          <a:ln/>
        </p:spPr>
        <p:txBody>
          <a:bodyPr wrap="square" lIns="0" tIns="0" rIns="0" bIns="0" rtlCol="0" anchor="ctr"/>
          <a:lstStyle/>
          <a:p>
            <a:pPr indent="0" marL="0">
              <a:buNone/>
            </a:pPr>
            <a:r>
              <a:rPr lang="en-US" sz="1000" dirty="0">
                <a:solidFill>
                  <a:srgbClr val="3C485C"/>
                </a:solidFill>
                <a:latin typeface="Calibri" pitchFamily="34" charset="0"/>
                <a:ea typeface="Calibri" pitchFamily="34" charset="-122"/>
                <a:cs typeface="Calibri" pitchFamily="34" charset="-120"/>
              </a:rPr>
              <a:t>A fresh-context critic gets the spec, the check table and the drawings. It catches a hole through the load path or missing finger scallops — things no number can.</a:t>
            </a:r>
            <a:endParaRPr lang="en-US" sz="1000" dirty="0"/>
          </a:p>
        </p:txBody>
      </p:sp>
      <p:sp>
        <p:nvSpPr>
          <p:cNvPr id="18" name="Shape 12"/>
          <p:cNvSpPr/>
          <p:nvPr/>
        </p:nvSpPr>
        <p:spPr>
          <a:xfrm>
            <a:off x="5669280" y="4215384"/>
            <a:ext cx="2926080" cy="0"/>
          </a:xfrm>
          <a:prstGeom prst="line">
            <a:avLst/>
          </a:prstGeom>
          <a:noFill/>
          <a:ln w="15875">
            <a:solidFill>
              <a:srgbClr val="1F7A46"/>
            </a:solidFill>
            <a:prstDash val="solid"/>
            <a:headEnd type="triangle"/>
            <a:tailEnd type="triangle"/>
          </a:ln>
        </p:spPr>
      </p:sp>
      <p:sp>
        <p:nvSpPr>
          <p:cNvPr id="19" name="Shape 13"/>
          <p:cNvSpPr/>
          <p:nvPr/>
        </p:nvSpPr>
        <p:spPr>
          <a:xfrm>
            <a:off x="5669280" y="4087368"/>
            <a:ext cx="0" cy="256032"/>
          </a:xfrm>
          <a:prstGeom prst="line">
            <a:avLst/>
          </a:prstGeom>
          <a:noFill/>
          <a:ln w="12700">
            <a:solidFill>
              <a:srgbClr val="1F7A46"/>
            </a:solidFill>
            <a:prstDash val="solid"/>
          </a:ln>
        </p:spPr>
      </p:sp>
      <p:sp>
        <p:nvSpPr>
          <p:cNvPr id="20" name="Shape 14"/>
          <p:cNvSpPr/>
          <p:nvPr/>
        </p:nvSpPr>
        <p:spPr>
          <a:xfrm>
            <a:off x="8595360" y="4087368"/>
            <a:ext cx="0" cy="256032"/>
          </a:xfrm>
          <a:prstGeom prst="line">
            <a:avLst/>
          </a:prstGeom>
          <a:noFill/>
          <a:ln w="12700">
            <a:solidFill>
              <a:srgbClr val="1F7A46"/>
            </a:solidFill>
            <a:prstDash val="solid"/>
          </a:ln>
        </p:spPr>
      </p:sp>
      <p:sp>
        <p:nvSpPr>
          <p:cNvPr id="21" name="Text 15"/>
          <p:cNvSpPr txBox="1"/>
          <p:nvPr/>
        </p:nvSpPr>
        <p:spPr>
          <a:xfrm>
            <a:off x="5852160" y="4023360"/>
            <a:ext cx="2560320" cy="384048"/>
          </a:xfrm>
          <a:prstGeom prst="rect">
            <a:avLst/>
          </a:prstGeom>
          <a:solidFill>
            <a:srgbClr val="F3F7FE"/>
          </a:solidFill>
          <a:ln/>
        </p:spPr>
        <p:txBody>
          <a:bodyPr wrap="square" lIns="0" tIns="0" rIns="0" bIns="0" rtlCol="0" anchor="ctr"/>
          <a:lstStyle/>
          <a:p>
            <a:pPr algn="ctr" indent="0" marL="0">
              <a:buNone/>
            </a:pPr>
            <a:r>
              <a:rPr lang="en-US" sz="1200" b="1" dirty="0">
                <a:solidFill>
                  <a:srgbClr val="1F7A46"/>
                </a:solidFill>
                <a:latin typeface="Courier New" pitchFamily="34" charset="0"/>
                <a:ea typeface="Courier New" pitchFamily="34" charset="-122"/>
                <a:cs typeface="Courier New" pitchFamily="34" charset="-120"/>
              </a:rPr>
              <a:t>43.45 [43.25 ±0.3] ✓</a:t>
            </a:r>
            <a:endParaRPr lang="en-US" sz="1200" dirty="0"/>
          </a:p>
        </p:txBody>
      </p:sp>
      <p:sp>
        <p:nvSpPr>
          <p:cNvPr id="22" name="Text 16"/>
          <p:cNvSpPr txBox="1"/>
          <p:nvPr/>
        </p:nvSpPr>
        <p:spPr>
          <a:xfrm>
            <a:off x="5669280" y="4425696"/>
            <a:ext cx="292608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what the model sees, not what it wrote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rgbClr val="05142E"/>
                </a:solidFill>
                <a:latin typeface="Arial" pitchFamily="34" charset="0"/>
                <a:ea typeface="Arial" pitchFamily="34" charset="-122"/>
                <a:cs typeface="Arial" pitchFamily="34" charset="-120"/>
              </a:rPr>
              <a:t>It asks for the photo it needs — not a number.</a:t>
            </a:r>
            <a:endParaRPr lang="en-US" sz="2600" dirty="0"/>
          </a:p>
        </p:txBody>
      </p:sp>
      <p:sp>
        <p:nvSpPr>
          <p:cNvPr id="3" name="Shape 1"/>
          <p:cNvSpPr/>
          <p:nvPr/>
        </p:nvSpPr>
        <p:spPr>
          <a:xfrm>
            <a:off x="420624" y="1106424"/>
            <a:ext cx="1554480" cy="3529584"/>
          </a:xfrm>
          <a:prstGeom prst="roundRect">
            <a:avLst>
              <a:gd name="adj" fmla="val 2941"/>
            </a:avLst>
          </a:prstGeom>
          <a:solidFill>
            <a:srgbClr val="FFFFFF"/>
          </a:solidFill>
          <a:ln w="9525">
            <a:solidFill>
              <a:srgbClr val="C9D6EC"/>
            </a:solidFill>
            <a:prstDash val="solid"/>
          </a:ln>
        </p:spPr>
      </p:sp>
      <p:pic>
        <p:nvPicPr>
          <p:cNvPr id="4" name="Image 0" descr="X:\Code\26Projects\kitsug\docs\submission\img\capture_guide.png">    </p:cNvPr>
          <p:cNvPicPr>
            <a:picLocks noChangeAspect="1"/>
          </p:cNvPicPr>
          <p:nvPr/>
        </p:nvPicPr>
        <p:blipFill>
          <a:blip r:embed="rId1"/>
          <a:srcRect l="0" r="0" t="0" b="0"/>
          <a:stretch/>
        </p:blipFill>
        <p:spPr>
          <a:xfrm>
            <a:off x="457200" y="1143000"/>
            <a:ext cx="1481328" cy="3456432"/>
          </a:xfrm>
          <a:prstGeom prst="rect">
            <a:avLst/>
          </a:prstGeom>
        </p:spPr>
      </p:pic>
      <p:sp>
        <p:nvSpPr>
          <p:cNvPr id="5" name="Shape 2"/>
          <p:cNvSpPr/>
          <p:nvPr/>
        </p:nvSpPr>
        <p:spPr>
          <a:xfrm>
            <a:off x="2112264" y="1106424"/>
            <a:ext cx="2999232" cy="1124712"/>
          </a:xfrm>
          <a:prstGeom prst="roundRect">
            <a:avLst>
              <a:gd name="adj" fmla="val 4065"/>
            </a:avLst>
          </a:prstGeom>
          <a:solidFill>
            <a:srgbClr val="FFFFFF"/>
          </a:solidFill>
          <a:ln w="9525">
            <a:solidFill>
              <a:srgbClr val="C9D6EC"/>
            </a:solidFill>
            <a:prstDash val="solid"/>
          </a:ln>
        </p:spPr>
      </p:sp>
      <p:pic>
        <p:nvPicPr>
          <p:cNvPr id="6" name="Image 1" descr="X:\Code\26Projects\kitsug\docs\submission\img\evidence_map.png">    </p:cNvPr>
          <p:cNvPicPr>
            <a:picLocks noChangeAspect="1"/>
          </p:cNvPicPr>
          <p:nvPr/>
        </p:nvPicPr>
        <p:blipFill>
          <a:blip r:embed="rId2"/>
          <a:srcRect l="0" r="0" t="0" b="0"/>
          <a:stretch/>
        </p:blipFill>
        <p:spPr>
          <a:xfrm>
            <a:off x="2148840" y="1143000"/>
            <a:ext cx="2926080" cy="1051560"/>
          </a:xfrm>
          <a:prstGeom prst="rect">
            <a:avLst/>
          </a:prstGeom>
        </p:spPr>
      </p:pic>
      <p:sp>
        <p:nvSpPr>
          <p:cNvPr id="7" name="Text 3"/>
          <p:cNvSpPr txBox="1"/>
          <p:nvPr/>
        </p:nvSpPr>
        <p:spPr>
          <a:xfrm>
            <a:off x="2148840" y="2240280"/>
            <a:ext cx="2926080" cy="365760"/>
          </a:xfrm>
          <a:prstGeom prst="rect">
            <a:avLst/>
          </a:prstGeom>
          <a:noFill/>
          <a:ln/>
        </p:spPr>
        <p:txBody>
          <a:bodyPr wrap="square" lIns="0" tIns="0" rIns="0" bIns="0" rtlCol="0" anchor="ctr"/>
          <a:lstStyle/>
          <a:p>
            <a:pPr indent="0" marL="0">
              <a:buNone/>
            </a:pPr>
            <a:r>
              <a:rPr lang="en-US" sz="900" i="1" dirty="0">
                <a:solidFill>
                  <a:srgbClr val="5B6982"/>
                </a:solidFill>
                <a:latin typeface="Calibri" pitchFamily="34" charset="0"/>
                <a:ea typeface="Calibri" pitchFamily="34" charset="-122"/>
                <a:cs typeface="Calibri" pitchFamily="34" charset="-120"/>
              </a:rPr>
              <a:t>the evidence graph: photos, readings and standards → estimates → dimensions → checks</a:t>
            </a:r>
            <a:endParaRPr lang="en-US" sz="900" dirty="0"/>
          </a:p>
        </p:txBody>
      </p:sp>
      <p:sp>
        <p:nvSpPr>
          <p:cNvPr id="8" name="Text 4"/>
          <p:cNvSpPr txBox="1"/>
          <p:nvPr/>
        </p:nvSpPr>
        <p:spPr>
          <a:xfrm>
            <a:off x="2148840" y="2697480"/>
            <a:ext cx="2971800" cy="19202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C485C"/>
                </a:solidFill>
                <a:latin typeface="Calibri" pitchFamily="34" charset="0"/>
                <a:ea typeface="Calibri" pitchFamily="34" charset="-122"/>
                <a:cs typeface="Calibri" pitchFamily="34" charset="-120"/>
              </a:rPr>
              <a:t>One photo per mating feature, pressed flat on a printed ArUco calibration sheet; each upload is graded and measured automatically.</a:t>
            </a:r>
            <a:endParaRPr lang="en-US" sz="1050" dirty="0"/>
          </a:p>
          <a:p>
            <a:pPr marL="342900" indent="-342900">
              <a:spcAft>
                <a:spcPts val="400"/>
              </a:spcAft>
              <a:buSzPct val="100000"/>
              <a:buChar char="•"/>
            </a:pPr>
            <a:r>
              <a:rPr lang="en-US" sz="1050" dirty="0">
                <a:solidFill>
                  <a:srgbClr val="3C485C"/>
                </a:solidFill>
                <a:latin typeface="Calibri" pitchFamily="34" charset="0"/>
                <a:ea typeface="Calibri" pitchFamily="34" charset="-122"/>
                <a:cs typeface="Calibri" pitchFamily="34" charset="-120"/>
              </a:rPr>
              <a:t>Heights get a ruler reading; a standard size (63-415 finish, 3/4" PVC, M5) gets one confirming photo.</a:t>
            </a:r>
            <a:endParaRPr lang="en-US" sz="1050" dirty="0"/>
          </a:p>
          <a:p>
            <a:pPr marL="342900" indent="-342900">
              <a:spcAft>
                <a:spcPts val="400"/>
              </a:spcAft>
              <a:buSzPct val="100000"/>
              <a:buChar char="•"/>
            </a:pPr>
            <a:r>
              <a:rPr lang="en-US" sz="1050" dirty="0">
                <a:solidFill>
                  <a:srgbClr val="3C485C"/>
                </a:solidFill>
                <a:latin typeface="Calibri" pitchFamily="34" charset="0"/>
                <a:ea typeface="Calibri" pitchFamily="34" charset="-122"/>
                <a:cs typeface="Calibri" pitchFamily="34" charset="-120"/>
              </a:rPr>
              <a:t>A capture agent rewrites the round for the object in the pictures: what to remove, which side down, what to avoid.</a:t>
            </a:r>
            <a:endParaRPr lang="en-US" sz="1050" dirty="0"/>
          </a:p>
          <a:p>
            <a:pPr marL="342900" indent="-342900">
              <a:spcAft>
                <a:spcPts val="400"/>
              </a:spcAft>
              <a:buSzPct val="100000"/>
              <a:buChar char="•"/>
            </a:pPr>
            <a:r>
              <a:rPr lang="en-US" sz="1050" dirty="0">
                <a:solidFill>
                  <a:srgbClr val="3C485C"/>
                </a:solidFill>
                <a:latin typeface="Calibri" pitchFamily="34" charset="0"/>
                <a:ea typeface="Calibri" pitchFamily="34" charset="-122"/>
                <a:cs typeface="Calibri" pitchFamily="34" charset="-120"/>
              </a:rPr>
              <a:t>The designer can ask the same way mid-run; the measured value comes back in its resume message.</a:t>
            </a:r>
            <a:endParaRPr lang="en-US" sz="1050" dirty="0"/>
          </a:p>
        </p:txBody>
      </p:sp>
      <p:sp>
        <p:nvSpPr>
          <p:cNvPr id="9" name="Shape 5"/>
          <p:cNvSpPr/>
          <p:nvPr/>
        </p:nvSpPr>
        <p:spPr>
          <a:xfrm>
            <a:off x="5440680" y="1499616"/>
            <a:ext cx="3200400" cy="0"/>
          </a:xfrm>
          <a:prstGeom prst="line">
            <a:avLst/>
          </a:prstGeom>
          <a:noFill/>
          <a:ln w="15875">
            <a:solidFill>
              <a:srgbClr val="155DD3"/>
            </a:solidFill>
            <a:prstDash val="solid"/>
            <a:headEnd type="triangle"/>
            <a:tailEnd type="triangle"/>
          </a:ln>
        </p:spPr>
      </p:sp>
      <p:sp>
        <p:nvSpPr>
          <p:cNvPr id="10" name="Shape 6"/>
          <p:cNvSpPr/>
          <p:nvPr/>
        </p:nvSpPr>
        <p:spPr>
          <a:xfrm>
            <a:off x="5440680" y="1371600"/>
            <a:ext cx="0" cy="256032"/>
          </a:xfrm>
          <a:prstGeom prst="line">
            <a:avLst/>
          </a:prstGeom>
          <a:noFill/>
          <a:ln w="12700">
            <a:solidFill>
              <a:srgbClr val="155DD3"/>
            </a:solidFill>
            <a:prstDash val="solid"/>
          </a:ln>
        </p:spPr>
      </p:sp>
      <p:sp>
        <p:nvSpPr>
          <p:cNvPr id="11" name="Shape 7"/>
          <p:cNvSpPr/>
          <p:nvPr/>
        </p:nvSpPr>
        <p:spPr>
          <a:xfrm>
            <a:off x="8641080" y="1371600"/>
            <a:ext cx="0" cy="256032"/>
          </a:xfrm>
          <a:prstGeom prst="line">
            <a:avLst/>
          </a:prstGeom>
          <a:noFill/>
          <a:ln w="12700">
            <a:solidFill>
              <a:srgbClr val="155DD3"/>
            </a:solidFill>
            <a:prstDash val="solid"/>
          </a:ln>
        </p:spPr>
      </p:sp>
      <p:sp>
        <p:nvSpPr>
          <p:cNvPr id="12" name="Text 8"/>
          <p:cNvSpPr txBox="1"/>
          <p:nvPr/>
        </p:nvSpPr>
        <p:spPr>
          <a:xfrm>
            <a:off x="6355080" y="1307592"/>
            <a:ext cx="1371600" cy="384048"/>
          </a:xfrm>
          <a:prstGeom prst="rect">
            <a:avLst/>
          </a:prstGeom>
          <a:solidFill>
            <a:srgbClr val="F3F7FE"/>
          </a:solidFill>
          <a:ln/>
        </p:spPr>
        <p:txBody>
          <a:bodyPr wrap="square" lIns="0" tIns="0" rIns="0" bIns="0" rtlCol="0" anchor="ctr"/>
          <a:lstStyle/>
          <a:p>
            <a:pPr algn="ctr" indent="0" marL="0">
              <a:buNone/>
            </a:pPr>
            <a:r>
              <a:rPr lang="en-US" sz="1500" b="1" dirty="0">
                <a:solidFill>
                  <a:srgbClr val="155DD3"/>
                </a:solidFill>
                <a:latin typeface="Courier New" pitchFamily="34" charset="0"/>
                <a:ea typeface="Courier New" pitchFamily="34" charset="-122"/>
                <a:cs typeface="Courier New" pitchFamily="34" charset="-120"/>
              </a:rPr>
              <a:t>≤ 0.5 mm</a:t>
            </a:r>
            <a:endParaRPr lang="en-US" sz="1500" dirty="0"/>
          </a:p>
        </p:txBody>
      </p:sp>
      <p:sp>
        <p:nvSpPr>
          <p:cNvPr id="13" name="Text 9"/>
          <p:cNvSpPr txBox="1"/>
          <p:nvPr/>
        </p:nvSpPr>
        <p:spPr>
          <a:xfrm>
            <a:off x="5440680" y="1709928"/>
            <a:ext cx="32004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diameter error on synthetic ground truth, up to 35° of camera tilt</a:t>
            </a:r>
            <a:endParaRPr lang="en-US" sz="1100" dirty="0"/>
          </a:p>
        </p:txBody>
      </p:sp>
      <p:sp>
        <p:nvSpPr>
          <p:cNvPr id="14" name="Shape 10"/>
          <p:cNvSpPr/>
          <p:nvPr/>
        </p:nvSpPr>
        <p:spPr>
          <a:xfrm>
            <a:off x="5440680" y="2505456"/>
            <a:ext cx="3200400" cy="0"/>
          </a:xfrm>
          <a:prstGeom prst="line">
            <a:avLst/>
          </a:prstGeom>
          <a:noFill/>
          <a:ln w="15875">
            <a:solidFill>
              <a:srgbClr val="155DD3"/>
            </a:solidFill>
            <a:prstDash val="solid"/>
            <a:headEnd type="triangle"/>
            <a:tailEnd type="triangle"/>
          </a:ln>
        </p:spPr>
      </p:sp>
      <p:sp>
        <p:nvSpPr>
          <p:cNvPr id="15" name="Shape 11"/>
          <p:cNvSpPr/>
          <p:nvPr/>
        </p:nvSpPr>
        <p:spPr>
          <a:xfrm>
            <a:off x="5440680" y="2377440"/>
            <a:ext cx="0" cy="256032"/>
          </a:xfrm>
          <a:prstGeom prst="line">
            <a:avLst/>
          </a:prstGeom>
          <a:noFill/>
          <a:ln w="12700">
            <a:solidFill>
              <a:srgbClr val="155DD3"/>
            </a:solidFill>
            <a:prstDash val="solid"/>
          </a:ln>
        </p:spPr>
      </p:sp>
      <p:sp>
        <p:nvSpPr>
          <p:cNvPr id="16" name="Shape 12"/>
          <p:cNvSpPr/>
          <p:nvPr/>
        </p:nvSpPr>
        <p:spPr>
          <a:xfrm>
            <a:off x="8641080" y="2377440"/>
            <a:ext cx="0" cy="256032"/>
          </a:xfrm>
          <a:prstGeom prst="line">
            <a:avLst/>
          </a:prstGeom>
          <a:noFill/>
          <a:ln w="12700">
            <a:solidFill>
              <a:srgbClr val="155DD3"/>
            </a:solidFill>
            <a:prstDash val="solid"/>
          </a:ln>
        </p:spPr>
      </p:sp>
      <p:sp>
        <p:nvSpPr>
          <p:cNvPr id="17" name="Text 13"/>
          <p:cNvSpPr txBox="1"/>
          <p:nvPr/>
        </p:nvSpPr>
        <p:spPr>
          <a:xfrm>
            <a:off x="6355080" y="2313432"/>
            <a:ext cx="1371600" cy="384048"/>
          </a:xfrm>
          <a:prstGeom prst="rect">
            <a:avLst/>
          </a:prstGeom>
          <a:solidFill>
            <a:srgbClr val="F3F7FE"/>
          </a:solidFill>
          <a:ln/>
        </p:spPr>
        <p:txBody>
          <a:bodyPr wrap="square" lIns="0" tIns="0" rIns="0" bIns="0" rtlCol="0" anchor="ctr"/>
          <a:lstStyle/>
          <a:p>
            <a:pPr algn="ctr" indent="0" marL="0">
              <a:buNone/>
            </a:pPr>
            <a:r>
              <a:rPr lang="en-US" sz="1500" b="1" dirty="0">
                <a:solidFill>
                  <a:srgbClr val="155DD3"/>
                </a:solidFill>
                <a:latin typeface="Courier New" pitchFamily="34" charset="0"/>
                <a:ea typeface="Courier New" pitchFamily="34" charset="-122"/>
                <a:cs typeface="Courier New" pitchFamily="34" charset="-120"/>
              </a:rPr>
              <a:t>≤ 0.3 mm</a:t>
            </a:r>
            <a:endParaRPr lang="en-US" sz="1500" dirty="0"/>
          </a:p>
        </p:txBody>
      </p:sp>
      <p:sp>
        <p:nvSpPr>
          <p:cNvPr id="18" name="Text 14"/>
          <p:cNvSpPr txBox="1"/>
          <p:nvPr/>
        </p:nvSpPr>
        <p:spPr>
          <a:xfrm>
            <a:off x="5440680" y="2715768"/>
            <a:ext cx="32004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circle-centre error</a:t>
            </a:r>
            <a:endParaRPr lang="en-US" sz="1100" dirty="0"/>
          </a:p>
        </p:txBody>
      </p:sp>
      <p:sp>
        <p:nvSpPr>
          <p:cNvPr id="19" name="Shape 15"/>
          <p:cNvSpPr/>
          <p:nvPr/>
        </p:nvSpPr>
        <p:spPr>
          <a:xfrm>
            <a:off x="5440680" y="3511296"/>
            <a:ext cx="3200400" cy="0"/>
          </a:xfrm>
          <a:prstGeom prst="line">
            <a:avLst/>
          </a:prstGeom>
          <a:noFill/>
          <a:ln w="15875">
            <a:solidFill>
              <a:srgbClr val="155DD3"/>
            </a:solidFill>
            <a:prstDash val="solid"/>
            <a:headEnd type="triangle"/>
            <a:tailEnd type="triangle"/>
          </a:ln>
        </p:spPr>
      </p:sp>
      <p:sp>
        <p:nvSpPr>
          <p:cNvPr id="20" name="Shape 16"/>
          <p:cNvSpPr/>
          <p:nvPr/>
        </p:nvSpPr>
        <p:spPr>
          <a:xfrm>
            <a:off x="5440680" y="3383280"/>
            <a:ext cx="0" cy="256032"/>
          </a:xfrm>
          <a:prstGeom prst="line">
            <a:avLst/>
          </a:prstGeom>
          <a:noFill/>
          <a:ln w="12700">
            <a:solidFill>
              <a:srgbClr val="155DD3"/>
            </a:solidFill>
            <a:prstDash val="solid"/>
          </a:ln>
        </p:spPr>
      </p:sp>
      <p:sp>
        <p:nvSpPr>
          <p:cNvPr id="21" name="Shape 17"/>
          <p:cNvSpPr/>
          <p:nvPr/>
        </p:nvSpPr>
        <p:spPr>
          <a:xfrm>
            <a:off x="8641080" y="3383280"/>
            <a:ext cx="0" cy="256032"/>
          </a:xfrm>
          <a:prstGeom prst="line">
            <a:avLst/>
          </a:prstGeom>
          <a:noFill/>
          <a:ln w="12700">
            <a:solidFill>
              <a:srgbClr val="155DD3"/>
            </a:solidFill>
            <a:prstDash val="solid"/>
          </a:ln>
        </p:spPr>
      </p:sp>
      <p:sp>
        <p:nvSpPr>
          <p:cNvPr id="22" name="Text 18"/>
          <p:cNvSpPr txBox="1"/>
          <p:nvPr/>
        </p:nvSpPr>
        <p:spPr>
          <a:xfrm>
            <a:off x="6300216" y="3319272"/>
            <a:ext cx="1481328" cy="384048"/>
          </a:xfrm>
          <a:prstGeom prst="rect">
            <a:avLst/>
          </a:prstGeom>
          <a:solidFill>
            <a:srgbClr val="F3F7FE"/>
          </a:solidFill>
          <a:ln/>
        </p:spPr>
        <p:txBody>
          <a:bodyPr wrap="square" lIns="0" tIns="0" rIns="0" bIns="0" rtlCol="0" anchor="ctr"/>
          <a:lstStyle/>
          <a:p>
            <a:pPr algn="ctr" indent="0" marL="0">
              <a:buNone/>
            </a:pPr>
            <a:r>
              <a:rPr lang="en-US" sz="1500" b="1" dirty="0">
                <a:solidFill>
                  <a:srgbClr val="155DD3"/>
                </a:solidFill>
                <a:latin typeface="Courier New" pitchFamily="34" charset="0"/>
                <a:ea typeface="Courier New" pitchFamily="34" charset="-122"/>
                <a:cs typeface="Courier New" pitchFamily="34" charset="-120"/>
              </a:rPr>
              <a:t>one round</a:t>
            </a:r>
            <a:endParaRPr lang="en-US" sz="1500" dirty="0"/>
          </a:p>
        </p:txBody>
      </p:sp>
      <p:sp>
        <p:nvSpPr>
          <p:cNvPr id="23" name="Text 19"/>
          <p:cNvSpPr txBox="1"/>
          <p:nvPr/>
        </p:nvSpPr>
        <p:spPr>
          <a:xfrm>
            <a:off x="5440680" y="3721608"/>
            <a:ext cx="32004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the plan for the bottle handle: one sheet photo, one ruler reading (scripted demo)</a:t>
            </a:r>
            <a:endParaRPr lang="en-US" sz="1100" dirty="0"/>
          </a:p>
        </p:txBody>
      </p:sp>
      <p:sp>
        <p:nvSpPr>
          <p:cNvPr id="24" name="Text 20"/>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850" dirty="0">
                <a:solidFill>
                  <a:srgbClr val="5B6982"/>
                </a:solidFill>
                <a:latin typeface="Courier New" pitchFamily="34" charset="0"/>
                <a:ea typeface="Courier New" pitchFamily="34" charset="-122"/>
                <a:cs typeface="Courier New" pitchFamily="34" charset="-120"/>
              </a:rPr>
              <a:t>kintsugi/spec/evidence.py · kintsugi/agent/capture.py · kintsugi/measure/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142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F3F7FE"/>
                </a:solidFill>
                <a:latin typeface="Arial" pitchFamily="34" charset="0"/>
                <a:ea typeface="Arial" pitchFamily="34" charset="-122"/>
                <a:cs typeface="Arial" pitchFamily="34" charset="-120"/>
              </a:rPr>
              <a:t>Every stage is a typed dataflow graph.</a:t>
            </a:r>
            <a:endParaRPr lang="en-US" sz="3000" dirty="0"/>
          </a:p>
        </p:txBody>
      </p:sp>
      <p:sp>
        <p:nvSpPr>
          <p:cNvPr id="3" name="Shape 1"/>
          <p:cNvSpPr/>
          <p:nvPr/>
        </p:nvSpPr>
        <p:spPr>
          <a:xfrm>
            <a:off x="420624" y="1152144"/>
            <a:ext cx="4005072" cy="2404872"/>
          </a:xfrm>
          <a:prstGeom prst="roundRect">
            <a:avLst>
              <a:gd name="adj" fmla="val 1901"/>
            </a:avLst>
          </a:prstGeom>
          <a:solidFill>
            <a:srgbClr val="0B2049"/>
          </a:solidFill>
          <a:ln w="9525">
            <a:solidFill>
              <a:srgbClr val="2C4260"/>
            </a:solidFill>
            <a:prstDash val="solid"/>
          </a:ln>
        </p:spPr>
      </p:sp>
      <p:pic>
        <p:nvPicPr>
          <p:cNvPr id="4" name="Image 0" descr="X:\Code\26Projects\kitsug\docs\submission\img\graph_pipeline.png">    </p:cNvPr>
          <p:cNvPicPr>
            <a:picLocks noChangeAspect="1"/>
          </p:cNvPicPr>
          <p:nvPr/>
        </p:nvPicPr>
        <p:blipFill>
          <a:blip r:embed="rId1"/>
          <a:srcRect l="0" r="0" t="0" b="0"/>
          <a:stretch/>
        </p:blipFill>
        <p:spPr>
          <a:xfrm>
            <a:off x="457200" y="1188720"/>
            <a:ext cx="3931920" cy="2331720"/>
          </a:xfrm>
          <a:prstGeom prst="rect">
            <a:avLst/>
          </a:prstGeom>
        </p:spPr>
      </p:pic>
      <p:sp>
        <p:nvSpPr>
          <p:cNvPr id="5" name="Text 2"/>
          <p:cNvSpPr txBox="1"/>
          <p:nvPr/>
        </p:nvSpPr>
        <p:spPr>
          <a:xfrm>
            <a:off x="457200" y="3566160"/>
            <a:ext cx="3931920" cy="457200"/>
          </a:xfrm>
          <a:prstGeom prst="rect">
            <a:avLst/>
          </a:prstGeom>
          <a:noFill/>
          <a:ln/>
        </p:spPr>
        <p:txBody>
          <a:bodyPr wrap="square" lIns="0" tIns="0" rIns="0" bIns="0" rtlCol="0" anchor="ctr"/>
          <a:lstStyle/>
          <a:p>
            <a:pPr indent="0" marL="0">
              <a:buNone/>
            </a:pPr>
            <a:r>
              <a:rPr lang="en-US" sz="900" i="1" dirty="0">
                <a:solidFill>
                  <a:srgbClr val="BED4F9"/>
                </a:solidFill>
                <a:latin typeface="Calibri" pitchFamily="34" charset="0"/>
                <a:ea typeface="Calibri" pitchFamily="34" charset="-122"/>
                <a:cs typeface="Calibri" pitchFamily="34" charset="-120"/>
              </a:rPr>
              <a:t>the iteration pipeline, live: params ∥ compile → mesh → checks ∥ views ∥ context → sections ∥ assembly → compose; blue = critical path</a:t>
            </a:r>
            <a:endParaRPr lang="en-US" sz="900" dirty="0"/>
          </a:p>
        </p:txBody>
      </p:sp>
      <p:sp>
        <p:nvSpPr>
          <p:cNvPr id="6" name="Text 3"/>
          <p:cNvSpPr txBox="1"/>
          <p:nvPr/>
        </p:nvSpPr>
        <p:spPr>
          <a:xfrm>
            <a:off x="4754880" y="1188720"/>
            <a:ext cx="3931920" cy="21945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3F7FE"/>
                </a:solidFill>
                <a:latin typeface="Calibri" pitchFamily="34" charset="0"/>
                <a:ea typeface="Calibri" pitchFamily="34" charset="-122"/>
                <a:cs typeface="Calibri" pitchFamily="34" charset="-120"/>
              </a:rPr>
              <a:t>Nodes declare inputs and outputs; edges follow. A node starts the moment its inputs exist — no wave barriers.</a:t>
            </a:r>
            <a:endParaRPr lang="en-US" sz="1100" dirty="0"/>
          </a:p>
          <a:p>
            <a:pPr marL="342900" indent="-342900">
              <a:spcAft>
                <a:spcPts val="500"/>
              </a:spcAft>
              <a:buSzPct val="100000"/>
              <a:buChar char="•"/>
            </a:pPr>
            <a:r>
              <a:rPr lang="en-US" sz="1100" dirty="0">
                <a:solidFill>
                  <a:srgbClr val="F3F7FE"/>
                </a:solidFill>
                <a:latin typeface="Calibri" pitchFamily="34" charset="0"/>
                <a:ea typeface="Calibri" pitchFamily="34" charset="-122"/>
                <a:cs typeface="Calibri" pitchFamily="34" charset="-120"/>
              </a:rPr>
              <a:t>Algorithms run in threads, model calls as coroutines; guards skip, optional nodes may fail, after= orders without data.</a:t>
            </a:r>
            <a:endParaRPr lang="en-US" sz="1100" dirty="0"/>
          </a:p>
          <a:p>
            <a:pPr marL="342900" indent="-342900">
              <a:spcAft>
                <a:spcPts val="500"/>
              </a:spcAft>
              <a:buSzPct val="100000"/>
              <a:buChar char="•"/>
            </a:pPr>
            <a:r>
              <a:rPr lang="en-US" sz="1100" dirty="0">
                <a:solidFill>
                  <a:srgbClr val="F3F7FE"/>
                </a:solidFill>
                <a:latin typeface="Calibri" pitchFamily="34" charset="0"/>
                <a:ea typeface="Calibri" pitchFamily="34" charset="-122"/>
                <a:cs typeface="Calibri" pitchFamily="34" charset="-120"/>
              </a:rPr>
              <a:t>People are nodes: a human node suspends the run with a request and resumes when the answer lands in the state.</a:t>
            </a:r>
            <a:endParaRPr lang="en-US" sz="1100" dirty="0"/>
          </a:p>
          <a:p>
            <a:pPr marL="342900" indent="-342900">
              <a:spcAft>
                <a:spcPts val="500"/>
              </a:spcAft>
              <a:buSzPct val="100000"/>
              <a:buChar char="•"/>
            </a:pPr>
            <a:r>
              <a:rPr lang="en-US" sz="1100" dirty="0">
                <a:solidFill>
                  <a:srgbClr val="F3F7FE"/>
                </a:solidFill>
                <a:latin typeface="Calibri" pitchFamily="34" charset="0"/>
                <a:ea typeface="Calibri" pitchFamily="34" charset="-122"/>
                <a:cs typeface="Calibri" pitchFamily="34" charset="-120"/>
              </a:rPr>
              <a:t>Every run leaves a trace — per-node timing, the critical path, serial vs wall — drawn live in the Graph tab.</a:t>
            </a:r>
            <a:endParaRPr lang="en-US" sz="1100" dirty="0"/>
          </a:p>
        </p:txBody>
      </p:sp>
      <p:sp>
        <p:nvSpPr>
          <p:cNvPr id="7" name="Shape 4"/>
          <p:cNvSpPr/>
          <p:nvPr/>
        </p:nvSpPr>
        <p:spPr>
          <a:xfrm>
            <a:off x="457200" y="4334256"/>
            <a:ext cx="2377440" cy="0"/>
          </a:xfrm>
          <a:prstGeom prst="line">
            <a:avLst/>
          </a:prstGeom>
          <a:noFill/>
          <a:ln w="15875">
            <a:solidFill>
              <a:srgbClr val="6C9EF0"/>
            </a:solidFill>
            <a:prstDash val="solid"/>
            <a:headEnd type="triangle"/>
            <a:tailEnd type="triangle"/>
          </a:ln>
        </p:spPr>
      </p:sp>
      <p:sp>
        <p:nvSpPr>
          <p:cNvPr id="8" name="Shape 5"/>
          <p:cNvSpPr/>
          <p:nvPr/>
        </p:nvSpPr>
        <p:spPr>
          <a:xfrm>
            <a:off x="457200" y="4206240"/>
            <a:ext cx="0" cy="256032"/>
          </a:xfrm>
          <a:prstGeom prst="line">
            <a:avLst/>
          </a:prstGeom>
          <a:noFill/>
          <a:ln w="12700">
            <a:solidFill>
              <a:srgbClr val="6C9EF0"/>
            </a:solidFill>
            <a:prstDash val="solid"/>
          </a:ln>
        </p:spPr>
      </p:sp>
      <p:sp>
        <p:nvSpPr>
          <p:cNvPr id="9" name="Shape 6"/>
          <p:cNvSpPr/>
          <p:nvPr/>
        </p:nvSpPr>
        <p:spPr>
          <a:xfrm>
            <a:off x="2834640" y="4206240"/>
            <a:ext cx="0" cy="256032"/>
          </a:xfrm>
          <a:prstGeom prst="line">
            <a:avLst/>
          </a:prstGeom>
          <a:noFill/>
          <a:ln w="12700">
            <a:solidFill>
              <a:srgbClr val="6C9EF0"/>
            </a:solidFill>
            <a:prstDash val="solid"/>
          </a:ln>
        </p:spPr>
      </p:sp>
      <p:sp>
        <p:nvSpPr>
          <p:cNvPr id="10" name="Text 7"/>
          <p:cNvSpPr txBox="1"/>
          <p:nvPr/>
        </p:nvSpPr>
        <p:spPr>
          <a:xfrm>
            <a:off x="640080" y="4142232"/>
            <a:ext cx="2011680" cy="384048"/>
          </a:xfrm>
          <a:prstGeom prst="rect">
            <a:avLst/>
          </a:prstGeom>
          <a:solidFill>
            <a:srgbClr val="05142E"/>
          </a:solidFill>
          <a:ln/>
        </p:spPr>
        <p:txBody>
          <a:bodyPr wrap="square" lIns="0" tIns="0" rIns="0" bIns="0" rtlCol="0" anchor="ctr"/>
          <a:lstStyle/>
          <a:p>
            <a:pPr algn="ctr" indent="0" marL="0">
              <a:buNone/>
            </a:pPr>
            <a:r>
              <a:rPr lang="en-US" sz="1400" b="1" dirty="0">
                <a:solidFill>
                  <a:srgbClr val="6C9EF0"/>
                </a:solidFill>
                <a:latin typeface="Courier New" pitchFamily="34" charset="0"/>
                <a:ea typeface="Courier New" pitchFamily="34" charset="-122"/>
                <a:cs typeface="Courier New" pitchFamily="34" charset="-120"/>
              </a:rPr>
              <a:t>checks ∥ sheets</a:t>
            </a:r>
            <a:endParaRPr lang="en-US" sz="1400" dirty="0"/>
          </a:p>
        </p:txBody>
      </p:sp>
      <p:sp>
        <p:nvSpPr>
          <p:cNvPr id="11" name="Text 8"/>
          <p:cNvSpPr txBox="1"/>
          <p:nvPr/>
        </p:nvSpPr>
        <p:spPr>
          <a:xfrm>
            <a:off x="457200" y="4544568"/>
            <a:ext cx="2377440" cy="274320"/>
          </a:xfrm>
          <a:prstGeom prst="rect">
            <a:avLst/>
          </a:prstGeom>
          <a:noFill/>
          <a:ln/>
        </p:spPr>
        <p:txBody>
          <a:bodyPr wrap="square" lIns="0" tIns="0" rIns="0" bIns="0" rtlCol="0" anchor="ctr"/>
          <a:lstStyle/>
          <a:p>
            <a:pPr algn="ctr" indent="0" marL="0">
              <a:buNone/>
            </a:pPr>
            <a:r>
              <a:rPr lang="en-US" sz="1100" dirty="0">
                <a:solidFill>
                  <a:srgbClr val="BED4F9"/>
                </a:solidFill>
                <a:latin typeface="Calibri" pitchFamily="34" charset="0"/>
                <a:ea typeface="Calibri" pitchFamily="34" charset="-122"/>
                <a:cs typeface="Calibri" pitchFamily="34" charset="-120"/>
              </a:rPr>
              <a:t>rendered in parallel, every run traced</a:t>
            </a:r>
            <a:endParaRPr lang="en-US" sz="1100" dirty="0"/>
          </a:p>
        </p:txBody>
      </p:sp>
      <p:sp>
        <p:nvSpPr>
          <p:cNvPr id="12" name="Shape 9"/>
          <p:cNvSpPr/>
          <p:nvPr/>
        </p:nvSpPr>
        <p:spPr>
          <a:xfrm>
            <a:off x="3291840" y="4334256"/>
            <a:ext cx="2377440" cy="0"/>
          </a:xfrm>
          <a:prstGeom prst="line">
            <a:avLst/>
          </a:prstGeom>
          <a:noFill/>
          <a:ln w="15875">
            <a:solidFill>
              <a:srgbClr val="6C9EF0"/>
            </a:solidFill>
            <a:prstDash val="solid"/>
            <a:headEnd type="triangle"/>
            <a:tailEnd type="triangle"/>
          </a:ln>
        </p:spPr>
      </p:sp>
      <p:sp>
        <p:nvSpPr>
          <p:cNvPr id="13" name="Shape 10"/>
          <p:cNvSpPr/>
          <p:nvPr/>
        </p:nvSpPr>
        <p:spPr>
          <a:xfrm>
            <a:off x="3291840" y="4206240"/>
            <a:ext cx="0" cy="256032"/>
          </a:xfrm>
          <a:prstGeom prst="line">
            <a:avLst/>
          </a:prstGeom>
          <a:noFill/>
          <a:ln w="12700">
            <a:solidFill>
              <a:srgbClr val="6C9EF0"/>
            </a:solidFill>
            <a:prstDash val="solid"/>
          </a:ln>
        </p:spPr>
      </p:sp>
      <p:sp>
        <p:nvSpPr>
          <p:cNvPr id="14" name="Shape 11"/>
          <p:cNvSpPr/>
          <p:nvPr/>
        </p:nvSpPr>
        <p:spPr>
          <a:xfrm>
            <a:off x="5669280" y="4206240"/>
            <a:ext cx="0" cy="256032"/>
          </a:xfrm>
          <a:prstGeom prst="line">
            <a:avLst/>
          </a:prstGeom>
          <a:noFill/>
          <a:ln w="12700">
            <a:solidFill>
              <a:srgbClr val="6C9EF0"/>
            </a:solidFill>
            <a:prstDash val="solid"/>
          </a:ln>
        </p:spPr>
      </p:sp>
      <p:sp>
        <p:nvSpPr>
          <p:cNvPr id="15" name="Text 12"/>
          <p:cNvSpPr txBox="1"/>
          <p:nvPr/>
        </p:nvSpPr>
        <p:spPr>
          <a:xfrm>
            <a:off x="3794760" y="4142232"/>
            <a:ext cx="1371600" cy="384048"/>
          </a:xfrm>
          <a:prstGeom prst="rect">
            <a:avLst/>
          </a:prstGeom>
          <a:solidFill>
            <a:srgbClr val="05142E"/>
          </a:solidFill>
          <a:ln/>
        </p:spPr>
        <p:txBody>
          <a:bodyPr wrap="square" lIns="0" tIns="0" rIns="0" bIns="0" rtlCol="0" anchor="ctr"/>
          <a:lstStyle/>
          <a:p>
            <a:pPr algn="ctr" indent="0" marL="0">
              <a:buNone/>
            </a:pPr>
            <a:r>
              <a:rPr lang="en-US" sz="1400" b="1" dirty="0">
                <a:solidFill>
                  <a:srgbClr val="6C9EF0"/>
                </a:solidFill>
                <a:latin typeface="Courier New" pitchFamily="34" charset="0"/>
                <a:ea typeface="Courier New" pitchFamily="34" charset="-122"/>
                <a:cs typeface="Courier New" pitchFamily="34" charset="-120"/>
              </a:rPr>
              <a:t>4 graphs</a:t>
            </a:r>
            <a:endParaRPr lang="en-US" sz="1400" dirty="0"/>
          </a:p>
        </p:txBody>
      </p:sp>
      <p:sp>
        <p:nvSpPr>
          <p:cNvPr id="16" name="Text 13"/>
          <p:cNvSpPr txBox="1"/>
          <p:nvPr/>
        </p:nvSpPr>
        <p:spPr>
          <a:xfrm>
            <a:off x="3291840" y="4544568"/>
            <a:ext cx="2377440" cy="274320"/>
          </a:xfrm>
          <a:prstGeom prst="rect">
            <a:avLst/>
          </a:prstGeom>
          <a:noFill/>
          <a:ln/>
        </p:spPr>
        <p:txBody>
          <a:bodyPr wrap="square" lIns="0" tIns="0" rIns="0" bIns="0" rtlCol="0" anchor="ctr"/>
          <a:lstStyle/>
          <a:p>
            <a:pPr algn="ctr" indent="0" marL="0">
              <a:buNone/>
            </a:pPr>
            <a:r>
              <a:rPr lang="en-US" sz="1100" dirty="0">
                <a:solidFill>
                  <a:srgbClr val="BED4F9"/>
                </a:solidFill>
                <a:latin typeface="Calibri" pitchFamily="34" charset="0"/>
                <a:ea typeface="Calibri" pitchFamily="34" charset="-122"/>
                <a:cs typeface="Calibri" pitchFamily="34" charset="-120"/>
              </a:rPr>
              <a:t>iteration · intake/capture · export · session flow</a:t>
            </a:r>
            <a:endParaRPr lang="en-US" sz="1100" dirty="0"/>
          </a:p>
        </p:txBody>
      </p:sp>
      <p:sp>
        <p:nvSpPr>
          <p:cNvPr id="17" name="Shape 14"/>
          <p:cNvSpPr/>
          <p:nvPr/>
        </p:nvSpPr>
        <p:spPr>
          <a:xfrm>
            <a:off x="6126480" y="4334256"/>
            <a:ext cx="2560320" cy="0"/>
          </a:xfrm>
          <a:prstGeom prst="line">
            <a:avLst/>
          </a:prstGeom>
          <a:noFill/>
          <a:ln w="15875">
            <a:solidFill>
              <a:srgbClr val="6C9EF0"/>
            </a:solidFill>
            <a:prstDash val="solid"/>
            <a:headEnd type="triangle"/>
            <a:tailEnd type="triangle"/>
          </a:ln>
        </p:spPr>
      </p:sp>
      <p:sp>
        <p:nvSpPr>
          <p:cNvPr id="18" name="Shape 15"/>
          <p:cNvSpPr/>
          <p:nvPr/>
        </p:nvSpPr>
        <p:spPr>
          <a:xfrm>
            <a:off x="6126480" y="4206240"/>
            <a:ext cx="0" cy="256032"/>
          </a:xfrm>
          <a:prstGeom prst="line">
            <a:avLst/>
          </a:prstGeom>
          <a:noFill/>
          <a:ln w="12700">
            <a:solidFill>
              <a:srgbClr val="6C9EF0"/>
            </a:solidFill>
            <a:prstDash val="solid"/>
          </a:ln>
        </p:spPr>
      </p:sp>
      <p:sp>
        <p:nvSpPr>
          <p:cNvPr id="19" name="Shape 16"/>
          <p:cNvSpPr/>
          <p:nvPr/>
        </p:nvSpPr>
        <p:spPr>
          <a:xfrm>
            <a:off x="8686800" y="4206240"/>
            <a:ext cx="0" cy="256032"/>
          </a:xfrm>
          <a:prstGeom prst="line">
            <a:avLst/>
          </a:prstGeom>
          <a:noFill/>
          <a:ln w="12700">
            <a:solidFill>
              <a:srgbClr val="6C9EF0"/>
            </a:solidFill>
            <a:prstDash val="solid"/>
          </a:ln>
        </p:spPr>
      </p:sp>
      <p:sp>
        <p:nvSpPr>
          <p:cNvPr id="20" name="Text 17"/>
          <p:cNvSpPr txBox="1"/>
          <p:nvPr/>
        </p:nvSpPr>
        <p:spPr>
          <a:xfrm>
            <a:off x="6611112" y="4142232"/>
            <a:ext cx="1591056" cy="384048"/>
          </a:xfrm>
          <a:prstGeom prst="rect">
            <a:avLst/>
          </a:prstGeom>
          <a:solidFill>
            <a:srgbClr val="05142E"/>
          </a:solidFill>
          <a:ln/>
        </p:spPr>
        <p:txBody>
          <a:bodyPr wrap="square" lIns="0" tIns="0" rIns="0" bIns="0" rtlCol="0" anchor="ctr"/>
          <a:lstStyle/>
          <a:p>
            <a:pPr algn="ctr" indent="0" marL="0">
              <a:buNone/>
            </a:pPr>
            <a:r>
              <a:rPr lang="en-US" sz="1400" b="1" dirty="0">
                <a:solidFill>
                  <a:srgbClr val="6C9EF0"/>
                </a:solidFill>
                <a:latin typeface="Courier New" pitchFamily="34" charset="0"/>
                <a:ea typeface="Courier New" pitchFamily="34" charset="-122"/>
                <a:cs typeface="Courier New" pitchFamily="34" charset="-120"/>
              </a:rPr>
              <a:t>~300 lines</a:t>
            </a:r>
            <a:endParaRPr lang="en-US" sz="1400" dirty="0"/>
          </a:p>
        </p:txBody>
      </p:sp>
      <p:sp>
        <p:nvSpPr>
          <p:cNvPr id="21" name="Text 18"/>
          <p:cNvSpPr txBox="1"/>
          <p:nvPr/>
        </p:nvSpPr>
        <p:spPr>
          <a:xfrm>
            <a:off x="6126480" y="4544568"/>
            <a:ext cx="2560320" cy="274320"/>
          </a:xfrm>
          <a:prstGeom prst="rect">
            <a:avLst/>
          </a:prstGeom>
          <a:noFill/>
          <a:ln/>
        </p:spPr>
        <p:txBody>
          <a:bodyPr wrap="square" lIns="0" tIns="0" rIns="0" bIns="0" rtlCol="0" anchor="ctr"/>
          <a:lstStyle/>
          <a:p>
            <a:pPr algn="ctr" indent="0" marL="0">
              <a:buNone/>
            </a:pPr>
            <a:r>
              <a:rPr lang="en-US" sz="1100" dirty="0">
                <a:solidFill>
                  <a:srgbClr val="BED4F9"/>
                </a:solidFill>
                <a:latin typeface="Calibri" pitchFamily="34" charset="0"/>
                <a:ea typeface="Calibri" pitchFamily="34" charset="-122"/>
                <a:cs typeface="Calibri" pitchFamily="34" charset="-120"/>
              </a:rPr>
              <a:t>the runtime, no framework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rgbClr val="05142E"/>
                </a:solidFill>
                <a:latin typeface="Arial" pitchFamily="34" charset="0"/>
                <a:ea typeface="Arial" pitchFamily="34" charset="-122"/>
                <a:cs typeface="Arial" pitchFamily="34" charset="-120"/>
              </a:rPr>
              <a:t>Two models, two jobs — on the Responses API.</a:t>
            </a:r>
            <a:endParaRPr lang="en-US" sz="2600" dirty="0"/>
          </a:p>
        </p:txBody>
      </p:sp>
      <p:sp>
        <p:nvSpPr>
          <p:cNvPr id="3" name="Shape 1"/>
          <p:cNvSpPr/>
          <p:nvPr/>
        </p:nvSpPr>
        <p:spPr>
          <a:xfrm>
            <a:off x="457200" y="1234440"/>
            <a:ext cx="2194560" cy="1234440"/>
          </a:xfrm>
          <a:prstGeom prst="roundRect">
            <a:avLst>
              <a:gd name="adj" fmla="val 5926"/>
            </a:avLst>
          </a:prstGeom>
          <a:solidFill>
            <a:srgbClr val="E2ECFC"/>
          </a:solidFill>
          <a:ln w="12700">
            <a:solidFill>
              <a:srgbClr val="155DD3"/>
            </a:solidFill>
            <a:prstDash val="solid"/>
          </a:ln>
        </p:spPr>
      </p:sp>
      <p:sp>
        <p:nvSpPr>
          <p:cNvPr id="4" name="Text 2"/>
          <p:cNvSpPr txBox="1"/>
          <p:nvPr/>
        </p:nvSpPr>
        <p:spPr>
          <a:xfrm>
            <a:off x="548640" y="1307592"/>
            <a:ext cx="2011680" cy="292608"/>
          </a:xfrm>
          <a:prstGeom prst="rect">
            <a:avLst/>
          </a:prstGeom>
          <a:noFill/>
          <a:ln/>
        </p:spPr>
        <p:txBody>
          <a:bodyPr wrap="square" lIns="0" tIns="0" rIns="0" bIns="0" rtlCol="0" anchor="ctr"/>
          <a:lstStyle/>
          <a:p>
            <a:pPr indent="0" marL="0">
              <a:buNone/>
            </a:pPr>
            <a:r>
              <a:rPr lang="en-US" sz="1200" b="1" dirty="0">
                <a:solidFill>
                  <a:srgbClr val="155DD3"/>
                </a:solidFill>
                <a:latin typeface="Arial" pitchFamily="34" charset="0"/>
                <a:ea typeface="Arial" pitchFamily="34" charset="-122"/>
                <a:cs typeface="Arial" pitchFamily="34" charset="-120"/>
              </a:rPr>
              <a:t>Designer · gpt-6-astra</a:t>
            </a:r>
            <a:endParaRPr lang="en-US" sz="1200" dirty="0"/>
          </a:p>
        </p:txBody>
      </p:sp>
      <p:sp>
        <p:nvSpPr>
          <p:cNvPr id="5" name="Text 3"/>
          <p:cNvSpPr txBox="1"/>
          <p:nvPr/>
        </p:nvSpPr>
        <p:spPr>
          <a:xfrm>
            <a:off x="548640" y="1600200"/>
            <a:ext cx="2011680" cy="795528"/>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reasoning effort high · sandboxed file tools · iterate / ask_user / finish</a:t>
            </a:r>
            <a:endParaRPr lang="en-US" sz="950" dirty="0"/>
          </a:p>
        </p:txBody>
      </p:sp>
      <p:sp>
        <p:nvSpPr>
          <p:cNvPr id="6" name="Shape 4"/>
          <p:cNvSpPr/>
          <p:nvPr/>
        </p:nvSpPr>
        <p:spPr>
          <a:xfrm>
            <a:off x="3154680" y="1234440"/>
            <a:ext cx="2194560" cy="1234440"/>
          </a:xfrm>
          <a:prstGeom prst="roundRect">
            <a:avLst>
              <a:gd name="adj" fmla="val 5926"/>
            </a:avLst>
          </a:prstGeom>
          <a:solidFill>
            <a:srgbClr val="FFFFFF"/>
          </a:solidFill>
          <a:ln w="12700">
            <a:solidFill>
              <a:srgbClr val="C9D6EC"/>
            </a:solidFill>
            <a:prstDash val="solid"/>
          </a:ln>
        </p:spPr>
      </p:sp>
      <p:sp>
        <p:nvSpPr>
          <p:cNvPr id="7" name="Text 5"/>
          <p:cNvSpPr txBox="1"/>
          <p:nvPr/>
        </p:nvSpPr>
        <p:spPr>
          <a:xfrm>
            <a:off x="3246120" y="1307592"/>
            <a:ext cx="2011680" cy="292608"/>
          </a:xfrm>
          <a:prstGeom prst="rect">
            <a:avLst/>
          </a:prstGeom>
          <a:noFill/>
          <a:ln/>
        </p:spPr>
        <p:txBody>
          <a:bodyPr wrap="square" lIns="0" tIns="0" rIns="0" bIns="0" rtlCol="0" anchor="ctr"/>
          <a:lstStyle/>
          <a:p>
            <a:pPr indent="0" marL="0">
              <a:buNone/>
            </a:pPr>
            <a:r>
              <a:rPr lang="en-US" sz="1200" b="1" dirty="0">
                <a:solidFill>
                  <a:srgbClr val="05142E"/>
                </a:solidFill>
                <a:latin typeface="Arial" pitchFamily="34" charset="0"/>
                <a:ea typeface="Arial" pitchFamily="34" charset="-122"/>
                <a:cs typeface="Arial" pitchFamily="34" charset="-120"/>
              </a:rPr>
              <a:t>Checker + renderer</a:t>
            </a:r>
            <a:endParaRPr lang="en-US" sz="1200" dirty="0"/>
          </a:p>
        </p:txBody>
      </p:sp>
      <p:sp>
        <p:nvSpPr>
          <p:cNvPr id="8" name="Text 6"/>
          <p:cNvSpPr txBox="1"/>
          <p:nvPr/>
        </p:nvSpPr>
        <p:spPr>
          <a:xfrm>
            <a:off x="3246120" y="1600200"/>
            <a:ext cx="2011680" cy="795528"/>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OpenSCAD compile → mesh checks → blueprint sheets (images) — a dataflow graph, no model</a:t>
            </a:r>
            <a:endParaRPr lang="en-US" sz="950" dirty="0"/>
          </a:p>
        </p:txBody>
      </p:sp>
      <p:sp>
        <p:nvSpPr>
          <p:cNvPr id="9" name="Shape 7"/>
          <p:cNvSpPr/>
          <p:nvPr/>
        </p:nvSpPr>
        <p:spPr>
          <a:xfrm>
            <a:off x="5852160" y="1234440"/>
            <a:ext cx="2834640" cy="1234440"/>
          </a:xfrm>
          <a:prstGeom prst="roundRect">
            <a:avLst>
              <a:gd name="adj" fmla="val 5926"/>
            </a:avLst>
          </a:prstGeom>
          <a:solidFill>
            <a:srgbClr val="E3F1E8"/>
          </a:solidFill>
          <a:ln w="12700">
            <a:solidFill>
              <a:srgbClr val="1F7A46"/>
            </a:solidFill>
            <a:prstDash val="solid"/>
          </a:ln>
        </p:spPr>
      </p:sp>
      <p:sp>
        <p:nvSpPr>
          <p:cNvPr id="10" name="Text 8"/>
          <p:cNvSpPr txBox="1"/>
          <p:nvPr/>
        </p:nvSpPr>
        <p:spPr>
          <a:xfrm>
            <a:off x="5943600" y="1307592"/>
            <a:ext cx="2651760" cy="292608"/>
          </a:xfrm>
          <a:prstGeom prst="rect">
            <a:avLst/>
          </a:prstGeom>
          <a:noFill/>
          <a:ln/>
        </p:spPr>
        <p:txBody>
          <a:bodyPr wrap="square" lIns="0" tIns="0" rIns="0" bIns="0" rtlCol="0" anchor="ctr"/>
          <a:lstStyle/>
          <a:p>
            <a:pPr indent="0" marL="0">
              <a:buNone/>
            </a:pPr>
            <a:r>
              <a:rPr lang="en-US" sz="1200" b="1" dirty="0">
                <a:solidFill>
                  <a:srgbClr val="1F7A46"/>
                </a:solidFill>
                <a:latin typeface="Arial" pitchFamily="34" charset="0"/>
                <a:ea typeface="Arial" pitchFamily="34" charset="-122"/>
                <a:cs typeface="Arial" pitchFamily="34" charset="-120"/>
              </a:rPr>
              <a:t>Critic · gpt-6-astra, fresh context</a:t>
            </a:r>
            <a:endParaRPr lang="en-US" sz="1200" dirty="0"/>
          </a:p>
        </p:txBody>
      </p:sp>
      <p:sp>
        <p:nvSpPr>
          <p:cNvPr id="11" name="Text 9"/>
          <p:cNvSpPr txBox="1"/>
          <p:nvPr/>
        </p:nvSpPr>
        <p:spPr>
          <a:xfrm>
            <a:off x="5943600" y="1600200"/>
            <a:ext cx="2651760" cy="795528"/>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sees the spec, the check table and the drawings — never the code; JSON verdict: pass / revise / ask the user</a:t>
            </a:r>
            <a:endParaRPr lang="en-US" sz="950" dirty="0"/>
          </a:p>
        </p:txBody>
      </p:sp>
      <p:sp>
        <p:nvSpPr>
          <p:cNvPr id="12" name="Shape 10"/>
          <p:cNvSpPr/>
          <p:nvPr/>
        </p:nvSpPr>
        <p:spPr>
          <a:xfrm>
            <a:off x="2651760" y="1828800"/>
            <a:ext cx="502920" cy="0"/>
          </a:xfrm>
          <a:prstGeom prst="line">
            <a:avLst/>
          </a:prstGeom>
          <a:noFill/>
          <a:ln w="15875">
            <a:solidFill>
              <a:srgbClr val="3C485C"/>
            </a:solidFill>
            <a:prstDash val="solid"/>
            <a:tailEnd type="triangle"/>
          </a:ln>
        </p:spPr>
      </p:sp>
      <p:sp>
        <p:nvSpPr>
          <p:cNvPr id="13" name="Text 11"/>
          <p:cNvSpPr txBox="1"/>
          <p:nvPr/>
        </p:nvSpPr>
        <p:spPr>
          <a:xfrm>
            <a:off x="2468880" y="1536192"/>
            <a:ext cx="868680" cy="256032"/>
          </a:xfrm>
          <a:prstGeom prst="rect">
            <a:avLst/>
          </a:prstGeom>
          <a:noFill/>
          <a:ln/>
        </p:spPr>
        <p:txBody>
          <a:bodyPr wrap="square" lIns="0" tIns="0" rIns="0" bIns="0" rtlCol="0" anchor="ctr"/>
          <a:lstStyle/>
          <a:p>
            <a:pPr algn="ctr" indent="0" marL="0">
              <a:buNone/>
            </a:pPr>
            <a:r>
              <a:rPr lang="en-US" sz="850" dirty="0">
                <a:solidFill>
                  <a:srgbClr val="5B6982"/>
                </a:solidFill>
                <a:latin typeface="Courier New" pitchFamily="34" charset="0"/>
                <a:ea typeface="Courier New" pitchFamily="34" charset="-122"/>
                <a:cs typeface="Courier New" pitchFamily="34" charset="-120"/>
              </a:rPr>
              <a:t>part.scad</a:t>
            </a:r>
            <a:endParaRPr lang="en-US" sz="850" dirty="0"/>
          </a:p>
        </p:txBody>
      </p:sp>
      <p:sp>
        <p:nvSpPr>
          <p:cNvPr id="14" name="Shape 12"/>
          <p:cNvSpPr/>
          <p:nvPr/>
        </p:nvSpPr>
        <p:spPr>
          <a:xfrm>
            <a:off x="5349240" y="1828800"/>
            <a:ext cx="502920" cy="0"/>
          </a:xfrm>
          <a:prstGeom prst="line">
            <a:avLst/>
          </a:prstGeom>
          <a:noFill/>
          <a:ln w="15875">
            <a:solidFill>
              <a:srgbClr val="3C485C"/>
            </a:solidFill>
            <a:prstDash val="solid"/>
            <a:tailEnd type="triangle"/>
          </a:ln>
        </p:spPr>
      </p:sp>
      <p:sp>
        <p:nvSpPr>
          <p:cNvPr id="15" name="Text 13"/>
          <p:cNvSpPr txBox="1"/>
          <p:nvPr/>
        </p:nvSpPr>
        <p:spPr>
          <a:xfrm>
            <a:off x="5166360" y="1536192"/>
            <a:ext cx="868680" cy="256032"/>
          </a:xfrm>
          <a:prstGeom prst="rect">
            <a:avLst/>
          </a:prstGeom>
          <a:noFill/>
          <a:ln/>
        </p:spPr>
        <p:txBody>
          <a:bodyPr wrap="square" lIns="0" tIns="0" rIns="0" bIns="0" rtlCol="0" anchor="ctr"/>
          <a:lstStyle/>
          <a:p>
            <a:pPr algn="ctr" indent="0" marL="0">
              <a:buNone/>
            </a:pPr>
            <a:r>
              <a:rPr lang="en-US" sz="850" dirty="0">
                <a:solidFill>
                  <a:srgbClr val="5B6982"/>
                </a:solidFill>
                <a:latin typeface="Courier New" pitchFamily="34" charset="0"/>
                <a:ea typeface="Courier New" pitchFamily="34" charset="-122"/>
                <a:cs typeface="Courier New" pitchFamily="34" charset="-120"/>
              </a:rPr>
              <a:t>sheets</a:t>
            </a:r>
            <a:endParaRPr lang="en-US" sz="850" dirty="0"/>
          </a:p>
        </p:txBody>
      </p:sp>
      <p:sp>
        <p:nvSpPr>
          <p:cNvPr id="16" name="Shape 14"/>
          <p:cNvSpPr/>
          <p:nvPr/>
        </p:nvSpPr>
        <p:spPr>
          <a:xfrm>
            <a:off x="1554480" y="2468880"/>
            <a:ext cx="0" cy="320040"/>
          </a:xfrm>
          <a:prstGeom prst="line">
            <a:avLst/>
          </a:prstGeom>
          <a:noFill/>
          <a:ln w="15875">
            <a:solidFill>
              <a:srgbClr val="155DD3"/>
            </a:solidFill>
            <a:prstDash val="solid"/>
            <a:headEnd type="triangle"/>
          </a:ln>
        </p:spPr>
      </p:sp>
      <p:sp>
        <p:nvSpPr>
          <p:cNvPr id="17" name="Shape 15"/>
          <p:cNvSpPr/>
          <p:nvPr/>
        </p:nvSpPr>
        <p:spPr>
          <a:xfrm>
            <a:off x="1554480" y="2788920"/>
            <a:ext cx="2697480" cy="0"/>
          </a:xfrm>
          <a:prstGeom prst="line">
            <a:avLst/>
          </a:prstGeom>
          <a:noFill/>
          <a:ln w="15875">
            <a:solidFill>
              <a:srgbClr val="155DD3"/>
            </a:solidFill>
            <a:prstDash val="solid"/>
          </a:ln>
        </p:spPr>
      </p:sp>
      <p:sp>
        <p:nvSpPr>
          <p:cNvPr id="18" name="Shape 16"/>
          <p:cNvSpPr/>
          <p:nvPr/>
        </p:nvSpPr>
        <p:spPr>
          <a:xfrm>
            <a:off x="4251960" y="2468880"/>
            <a:ext cx="0" cy="320040"/>
          </a:xfrm>
          <a:prstGeom prst="line">
            <a:avLst/>
          </a:prstGeom>
          <a:noFill/>
          <a:ln w="15875">
            <a:solidFill>
              <a:srgbClr val="155DD3"/>
            </a:solidFill>
            <a:prstDash val="solid"/>
          </a:ln>
        </p:spPr>
      </p:sp>
      <p:sp>
        <p:nvSpPr>
          <p:cNvPr id="19" name="Text 17"/>
          <p:cNvSpPr txBox="1"/>
          <p:nvPr/>
        </p:nvSpPr>
        <p:spPr>
          <a:xfrm>
            <a:off x="1645920" y="2816352"/>
            <a:ext cx="3200400" cy="274320"/>
          </a:xfrm>
          <a:prstGeom prst="rect">
            <a:avLst/>
          </a:prstGeom>
          <a:noFill/>
          <a:ln/>
        </p:spPr>
        <p:txBody>
          <a:bodyPr wrap="square" lIns="0" tIns="0" rIns="0" bIns="0" rtlCol="0" anchor="ctr"/>
          <a:lstStyle/>
          <a:p>
            <a:pPr indent="0" marL="0">
              <a:buNone/>
            </a:pPr>
            <a:r>
              <a:rPr lang="en-US" sz="850" dirty="0">
                <a:solidFill>
                  <a:srgbClr val="155DD3"/>
                </a:solidFill>
                <a:latin typeface="Courier New" pitchFamily="34" charset="0"/>
                <a:ea typeface="Courier New" pitchFamily="34" charset="-122"/>
                <a:cs typeface="Courier New" pitchFamily="34" charset="-120"/>
              </a:rPr>
              <a:t>check table + sheets return as the tool's output — text and images the model looks at</a:t>
            </a:r>
            <a:endParaRPr lang="en-US" sz="850" dirty="0"/>
          </a:p>
        </p:txBody>
      </p:sp>
      <p:sp>
        <p:nvSpPr>
          <p:cNvPr id="20" name="Shape 18"/>
          <p:cNvSpPr/>
          <p:nvPr/>
        </p:nvSpPr>
        <p:spPr>
          <a:xfrm>
            <a:off x="7269480" y="2468880"/>
            <a:ext cx="0" cy="320040"/>
          </a:xfrm>
          <a:prstGeom prst="line">
            <a:avLst/>
          </a:prstGeom>
          <a:noFill/>
          <a:ln w="15875">
            <a:solidFill>
              <a:srgbClr val="1F7A46"/>
            </a:solidFill>
            <a:prstDash val="solid"/>
          </a:ln>
        </p:spPr>
      </p:sp>
      <p:sp>
        <p:nvSpPr>
          <p:cNvPr id="21" name="Text 19"/>
          <p:cNvSpPr txBox="1"/>
          <p:nvPr/>
        </p:nvSpPr>
        <p:spPr>
          <a:xfrm>
            <a:off x="5852160" y="2816352"/>
            <a:ext cx="2834640" cy="274320"/>
          </a:xfrm>
          <a:prstGeom prst="rect">
            <a:avLst/>
          </a:prstGeom>
          <a:noFill/>
          <a:ln/>
        </p:spPr>
        <p:txBody>
          <a:bodyPr wrap="square" lIns="0" tIns="0" rIns="0" bIns="0" rtlCol="0" anchor="ctr"/>
          <a:lstStyle/>
          <a:p>
            <a:pPr indent="0" marL="0">
              <a:buNone/>
            </a:pPr>
            <a:r>
              <a:rPr lang="en-US" sz="850" dirty="0">
                <a:solidFill>
                  <a:srgbClr val="1F7A46"/>
                </a:solidFill>
                <a:latin typeface="Courier New" pitchFamily="34" charset="0"/>
                <a:ea typeface="Courier New" pitchFamily="34" charset="-122"/>
                <a:cs typeface="Courier New" pitchFamily="34" charset="-120"/>
              </a:rPr>
              <a:t>revise → the designer gets the verdict in a fresh tool loop</a:t>
            </a:r>
            <a:endParaRPr lang="en-US" sz="850" dirty="0"/>
          </a:p>
        </p:txBody>
      </p:sp>
      <p:sp>
        <p:nvSpPr>
          <p:cNvPr id="22" name="Shape 20"/>
          <p:cNvSpPr/>
          <p:nvPr/>
        </p:nvSpPr>
        <p:spPr>
          <a:xfrm>
            <a:off x="457200" y="3337560"/>
            <a:ext cx="2583180" cy="292608"/>
          </a:xfrm>
          <a:prstGeom prst="roundRect">
            <a:avLst>
              <a:gd name="adj" fmla="val 50000"/>
            </a:avLst>
          </a:prstGeom>
          <a:solidFill>
            <a:srgbClr val="FFFFFF"/>
          </a:solidFill>
          <a:ln w="9525">
            <a:solidFill>
              <a:srgbClr val="C9D6EC"/>
            </a:solidFill>
            <a:prstDash val="solid"/>
          </a:ln>
        </p:spPr>
      </p:sp>
      <p:sp>
        <p:nvSpPr>
          <p:cNvPr id="23" name="Text 21"/>
          <p:cNvSpPr txBox="1"/>
          <p:nvPr/>
        </p:nvSpPr>
        <p:spPr>
          <a:xfrm>
            <a:off x="457200" y="3337560"/>
            <a:ext cx="258318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function tools with image outputs</a:t>
            </a:r>
            <a:endParaRPr lang="en-US" sz="900" dirty="0"/>
          </a:p>
        </p:txBody>
      </p:sp>
      <p:sp>
        <p:nvSpPr>
          <p:cNvPr id="24" name="Shape 22"/>
          <p:cNvSpPr/>
          <p:nvPr/>
        </p:nvSpPr>
        <p:spPr>
          <a:xfrm>
            <a:off x="3150108" y="3337560"/>
            <a:ext cx="3543300" cy="292608"/>
          </a:xfrm>
          <a:prstGeom prst="roundRect">
            <a:avLst>
              <a:gd name="adj" fmla="val 50000"/>
            </a:avLst>
          </a:prstGeom>
          <a:solidFill>
            <a:srgbClr val="FFFFFF"/>
          </a:solidFill>
          <a:ln w="9525">
            <a:solidFill>
              <a:srgbClr val="C9D6EC"/>
            </a:solidFill>
            <a:prstDash val="solid"/>
          </a:ln>
        </p:spPr>
      </p:sp>
      <p:sp>
        <p:nvSpPr>
          <p:cNvPr id="25" name="Text 23"/>
          <p:cNvSpPr txBox="1"/>
          <p:nvPr/>
        </p:nvSpPr>
        <p:spPr>
          <a:xfrm>
            <a:off x="3150108" y="3337560"/>
            <a:ext cx="354330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previous_response_id — each sheet uploaded once</a:t>
            </a:r>
            <a:endParaRPr lang="en-US" sz="900" dirty="0"/>
          </a:p>
        </p:txBody>
      </p:sp>
      <p:sp>
        <p:nvSpPr>
          <p:cNvPr id="26" name="Shape 24"/>
          <p:cNvSpPr/>
          <p:nvPr/>
        </p:nvSpPr>
        <p:spPr>
          <a:xfrm>
            <a:off x="457200" y="3721608"/>
            <a:ext cx="2034540" cy="292608"/>
          </a:xfrm>
          <a:prstGeom prst="roundRect">
            <a:avLst>
              <a:gd name="adj" fmla="val 50000"/>
            </a:avLst>
          </a:prstGeom>
          <a:solidFill>
            <a:srgbClr val="FFFFFF"/>
          </a:solidFill>
          <a:ln w="9525">
            <a:solidFill>
              <a:srgbClr val="C9D6EC"/>
            </a:solidFill>
            <a:prstDash val="solid"/>
          </a:ln>
        </p:spPr>
      </p:sp>
      <p:sp>
        <p:nvSpPr>
          <p:cNvPr id="27" name="Text 25"/>
          <p:cNvSpPr txBox="1"/>
          <p:nvPr/>
        </p:nvSpPr>
        <p:spPr>
          <a:xfrm>
            <a:off x="457200" y="3721608"/>
            <a:ext cx="203454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reasoning.effort per role</a:t>
            </a:r>
            <a:endParaRPr lang="en-US" sz="900" dirty="0"/>
          </a:p>
        </p:txBody>
      </p:sp>
      <p:sp>
        <p:nvSpPr>
          <p:cNvPr id="28" name="Shape 26"/>
          <p:cNvSpPr/>
          <p:nvPr/>
        </p:nvSpPr>
        <p:spPr>
          <a:xfrm>
            <a:off x="2601468" y="3721608"/>
            <a:ext cx="3268980" cy="292608"/>
          </a:xfrm>
          <a:prstGeom prst="roundRect">
            <a:avLst>
              <a:gd name="adj" fmla="val 50000"/>
            </a:avLst>
          </a:prstGeom>
          <a:solidFill>
            <a:srgbClr val="FFFFFF"/>
          </a:solidFill>
          <a:ln w="9525">
            <a:solidFill>
              <a:srgbClr val="C9D6EC"/>
            </a:solidFill>
            <a:prstDash val="solid"/>
          </a:ln>
        </p:spPr>
      </p:sp>
      <p:sp>
        <p:nvSpPr>
          <p:cNvPr id="29" name="Text 27"/>
          <p:cNvSpPr txBox="1"/>
          <p:nvPr/>
        </p:nvSpPr>
        <p:spPr>
          <a:xfrm>
            <a:off x="2601468" y="3721608"/>
            <a:ext cx="326898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text.format json_object for critic &amp; intake</a:t>
            </a:r>
            <a:endParaRPr lang="en-US" sz="900" dirty="0"/>
          </a:p>
        </p:txBody>
      </p:sp>
      <p:sp>
        <p:nvSpPr>
          <p:cNvPr id="30" name="Shape 28"/>
          <p:cNvSpPr/>
          <p:nvPr/>
        </p:nvSpPr>
        <p:spPr>
          <a:xfrm>
            <a:off x="5980176" y="3721608"/>
            <a:ext cx="2377440" cy="292608"/>
          </a:xfrm>
          <a:prstGeom prst="roundRect">
            <a:avLst>
              <a:gd name="adj" fmla="val 50000"/>
            </a:avLst>
          </a:prstGeom>
          <a:solidFill>
            <a:srgbClr val="FFFFFF"/>
          </a:solidFill>
          <a:ln w="9525">
            <a:solidFill>
              <a:srgbClr val="C9D6EC"/>
            </a:solidFill>
            <a:prstDash val="solid"/>
          </a:ln>
        </p:spPr>
      </p:sp>
      <p:sp>
        <p:nvSpPr>
          <p:cNvPr id="31" name="Text 29"/>
          <p:cNvSpPr txBox="1"/>
          <p:nvPr/>
        </p:nvSpPr>
        <p:spPr>
          <a:xfrm>
            <a:off x="5980176" y="3721608"/>
            <a:ext cx="237744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vision: intake + capture agent</a:t>
            </a:r>
            <a:endParaRPr lang="en-US" sz="900" dirty="0"/>
          </a:p>
        </p:txBody>
      </p:sp>
      <p:sp>
        <p:nvSpPr>
          <p:cNvPr id="32" name="Shape 30"/>
          <p:cNvSpPr/>
          <p:nvPr/>
        </p:nvSpPr>
        <p:spPr>
          <a:xfrm>
            <a:off x="457200" y="4105656"/>
            <a:ext cx="2377440" cy="292608"/>
          </a:xfrm>
          <a:prstGeom prst="roundRect">
            <a:avLst>
              <a:gd name="adj" fmla="val 50000"/>
            </a:avLst>
          </a:prstGeom>
          <a:solidFill>
            <a:srgbClr val="FFFFFF"/>
          </a:solidFill>
          <a:ln w="9525">
            <a:solidFill>
              <a:srgbClr val="C9D6EC"/>
            </a:solidFill>
            <a:prstDash val="solid"/>
          </a:ln>
        </p:spPr>
      </p:sp>
      <p:sp>
        <p:nvSpPr>
          <p:cNvPr id="33" name="Text 31"/>
          <p:cNvSpPr txBox="1"/>
          <p:nvPr/>
        </p:nvSpPr>
        <p:spPr>
          <a:xfrm>
            <a:off x="457200" y="4105656"/>
            <a:ext cx="237744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gpt-6-sol for the cheap passes</a:t>
            </a:r>
            <a:endParaRPr lang="en-US" sz="900" dirty="0"/>
          </a:p>
        </p:txBody>
      </p:sp>
      <p:sp>
        <p:nvSpPr>
          <p:cNvPr id="34" name="Shape 32"/>
          <p:cNvSpPr/>
          <p:nvPr/>
        </p:nvSpPr>
        <p:spPr>
          <a:xfrm>
            <a:off x="2944368" y="4105656"/>
            <a:ext cx="3268980" cy="292608"/>
          </a:xfrm>
          <a:prstGeom prst="roundRect">
            <a:avLst>
              <a:gd name="adj" fmla="val 50000"/>
            </a:avLst>
          </a:prstGeom>
          <a:solidFill>
            <a:srgbClr val="FFFFFF"/>
          </a:solidFill>
          <a:ln w="9525">
            <a:solidFill>
              <a:srgbClr val="C9D6EC"/>
            </a:solidFill>
            <a:prstDash val="solid"/>
          </a:ln>
        </p:spPr>
      </p:sp>
      <p:sp>
        <p:nvSpPr>
          <p:cNvPr id="35" name="Text 33"/>
          <p:cNvSpPr txBox="1"/>
          <p:nvPr/>
        </p:nvSpPr>
        <p:spPr>
          <a:xfrm>
            <a:off x="2944368" y="4105656"/>
            <a:ext cx="3268980" cy="292608"/>
          </a:xfrm>
          <a:prstGeom prst="rect">
            <a:avLst/>
          </a:prstGeom>
          <a:noFill/>
          <a:ln/>
        </p:spPr>
        <p:txBody>
          <a:bodyPr wrap="square" lIns="0" tIns="0" rIns="0" bIns="0" rtlCol="0" anchor="ctr"/>
          <a:lstStyle/>
          <a:p>
            <a:pPr algn="ctr" indent="0" marL="0">
              <a:buNone/>
            </a:pPr>
            <a:r>
              <a:rPr lang="en-US" sz="900" dirty="0">
                <a:solidFill>
                  <a:srgbClr val="3C485C"/>
                </a:solidFill>
                <a:latin typeface="Courier New" pitchFamily="34" charset="0"/>
                <a:ea typeface="Courier New" pitchFamily="34" charset="-122"/>
                <a:cs typeface="Courier New" pitchFamily="34" charset="-120"/>
              </a:rPr>
              <a:t>stateless fallback with encrypted reasoning</a:t>
            </a:r>
            <a:endParaRPr lang="en-US" sz="900" dirty="0"/>
          </a:p>
        </p:txBody>
      </p:sp>
      <p:sp>
        <p:nvSpPr>
          <p:cNvPr id="36" name="Text 34"/>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850" dirty="0">
                <a:solidFill>
                  <a:srgbClr val="5B6982"/>
                </a:solidFill>
                <a:latin typeface="Courier New" pitchFamily="34" charset="0"/>
                <a:ea typeface="Courier New" pitchFamily="34" charset="-122"/>
                <a:cs typeface="Courier New" pitchFamily="34" charset="-120"/>
              </a:rPr>
              <a:t>kintsugi/agent/llm.py — one provider facade; a scripted provider runs the same loop for tests and demos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05142E"/>
                </a:solidFill>
                <a:latin typeface="Arial" pitchFamily="34" charset="0"/>
                <a:ea typeface="Arial" pitchFamily="34" charset="-122"/>
                <a:cs typeface="Arial" pitchFamily="34" charset="-120"/>
              </a:rPr>
              <a:t>Measured, not claimed.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212080" cy="914400"/>
        </p:xfrm>
        <a:graphic>
          <a:graphicData uri="http://schemas.openxmlformats.org/drawingml/2006/table">
            <a:tbl>
              <a:tblPr/>
              <a:tblGrid>
                <a:gridCol w="1554480"/>
                <a:gridCol w="640080"/>
                <a:gridCol w="1371600"/>
                <a:gridCol w="411480"/>
                <a:gridCol w="1234440"/>
              </a:tblGrid>
              <a:tr h="274320">
                <a:tc>
                  <a:txBody>
                    <a:bodyPr/>
                    <a:lstStyle/>
                    <a:p>
                      <a:pPr indent="0" marL="0">
                        <a:buNone/>
                      </a:pPr>
                      <a:r>
                        <a:rPr lang="en-US" sz="900" b="1" dirty="0">
                          <a:solidFill>
                            <a:srgbClr val="05142E"/>
                          </a:solidFill>
                          <a:latin typeface="Calibri" pitchFamily="34" charset="0"/>
                          <a:ea typeface="Calibri" pitchFamily="34" charset="-122"/>
                          <a:cs typeface="Calibri" pitchFamily="34" charset="-120"/>
                        </a:rPr>
                        <a:t>part (human reference)</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E1E9F5"/>
                    </a:solidFill>
                  </a:tcPr>
                </a:tc>
                <a:tc>
                  <a:txBody>
                    <a:bodyPr/>
                    <a:lstStyle/>
                    <a:p>
                      <a:pPr indent="0" marL="0">
                        <a:buNone/>
                      </a:pPr>
                      <a:r>
                        <a:rPr lang="en-US" sz="900" b="1" dirty="0">
                          <a:solidFill>
                            <a:srgbClr val="05142E"/>
                          </a:solidFill>
                          <a:latin typeface="Calibri" pitchFamily="34" charset="0"/>
                          <a:ea typeface="Calibri" pitchFamily="34" charset="-122"/>
                          <a:cs typeface="Calibri" pitchFamily="34" charset="-120"/>
                        </a:rPr>
                        <a:t>Kintsugi</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E1E9F5"/>
                    </a:solidFill>
                  </a:tcPr>
                </a:tc>
                <a:tc>
                  <a:txBody>
                    <a:bodyPr/>
                    <a:lstStyle/>
                    <a:p>
                      <a:pPr indent="0" marL="0">
                        <a:buNone/>
                      </a:pPr>
                      <a:r>
                        <a:rPr lang="en-US" sz="900" b="1" dirty="0">
                          <a:solidFill>
                            <a:srgbClr val="05142E"/>
                          </a:solidFill>
                          <a:latin typeface="Calibri" pitchFamily="34" charset="0"/>
                          <a:ea typeface="Calibri" pitchFamily="34" charset="-122"/>
                          <a:cs typeface="Calibri" pitchFamily="34" charset="-120"/>
                        </a:rPr>
                        <a:t>human</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E1E9F5"/>
                    </a:solidFill>
                  </a:tcPr>
                </a:tc>
                <a:tc>
                  <a:txBody>
                    <a:bodyPr/>
                    <a:lstStyle/>
                    <a:p>
                      <a:pPr indent="0" marL="0">
                        <a:buNone/>
                      </a:pPr>
                      <a:r>
                        <a:rPr lang="en-US" sz="900" b="1" dirty="0">
                          <a:solidFill>
                            <a:srgbClr val="05142E"/>
                          </a:solidFill>
                          <a:latin typeface="Calibri" pitchFamily="34" charset="0"/>
                          <a:ea typeface="Calibri" pitchFamily="34" charset="-122"/>
                          <a:cs typeface="Calibri" pitchFamily="34" charset="-120"/>
                        </a:rPr>
                        <a:t>iter.</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E1E9F5"/>
                    </a:solidFill>
                  </a:tcPr>
                </a:tc>
                <a:tc>
                  <a:txBody>
                    <a:bodyPr/>
                    <a:lstStyle/>
                    <a:p>
                      <a:pPr indent="0" marL="0">
                        <a:buNone/>
                      </a:pPr>
                      <a:r>
                        <a:rPr lang="en-US" sz="900" b="1" dirty="0">
                          <a:solidFill>
                            <a:srgbClr val="05142E"/>
                          </a:solidFill>
                          <a:latin typeface="Calibri" pitchFamily="34" charset="0"/>
                          <a:ea typeface="Calibri" pitchFamily="34" charset="-122"/>
                          <a:cs typeface="Calibri" pitchFamily="34" charset="-120"/>
                        </a:rPr>
                        <a:t>blind judge</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E1E9F5"/>
                    </a:solidFill>
                  </a:tcPr>
                </a:tc>
              </a:tr>
              <a:tr h="274320">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rack spacer</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human 9 · kin 7</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cabinet plug</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B8322A"/>
                          </a:solidFill>
                          <a:latin typeface="Calibri" pitchFamily="34" charset="0"/>
                          <a:ea typeface="Calibri" pitchFamily="34" charset="-122"/>
                          <a:cs typeface="Calibri" pitchFamily="34" charset="-120"/>
                        </a:rPr>
                        <a:t>fail: walls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kintsugi 9 · human 6</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IKEA DOMBÅS handle</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kintsugi 9 · human 5</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trailer jack cap</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kintsugi 9 · human 7</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dishwasher rack hinge</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B8322A"/>
                          </a:solidFill>
                          <a:latin typeface="Calibri" pitchFamily="34" charset="0"/>
                          <a:ea typeface="Calibri" pitchFamily="34" charset="-122"/>
                          <a:cs typeface="Calibri" pitchFamily="34" charset="-120"/>
                        </a:rPr>
                        <a:t>fail: topology, walls</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dirty="0">
                          <a:solidFill>
                            <a:srgbClr val="3C485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c>
                  <a:txBody>
                    <a:bodyPr/>
                    <a:lstStyle/>
                    <a:p>
                      <a:pPr indent="0" marL="0">
                        <a:buNone/>
                      </a:pPr>
                      <a:r>
                        <a:rPr lang="en-US" sz="900" b="1" dirty="0">
                          <a:solidFill>
                            <a:srgbClr val="1F7A46"/>
                          </a:solidFill>
                          <a:latin typeface="Calibri" pitchFamily="34" charset="0"/>
                          <a:ea typeface="Calibri" pitchFamily="34" charset="-122"/>
                          <a:cs typeface="Calibri" pitchFamily="34" charset="-120"/>
                        </a:rPr>
                        <a:t>kintsugi 8 · human 6</a:t>
                      </a:r>
                      <a:endParaRPr lang="en-US" sz="900" dirty="0">
                        <a:latin typeface="Calibri" charset="0"/>
                        <a:ea typeface="Calibri" charset="0"/>
                        <a:cs typeface="Calibri" charset="0"/>
                      </a:endParaRPr>
                    </a:p>
                  </a:txBody>
                  <a:tcPr marL="91440" marR="91440" marT="45720" marB="45720" anchor="ctr">
                    <a:lnL w="6350" cap="flat" cmpd="sng" algn="ctr">
                      <a:solidFill>
                        <a:srgbClr val="E1E9F5"/>
                      </a:solidFill>
                      <a:prstDash val="solid"/>
                      <a:round/>
                      <a:headEnd type="none" w="med" len="med"/>
                      <a:tailEnd type="none" w="med" len="med"/>
                    </a:lnL>
                    <a:lnR w="6350" cap="flat" cmpd="sng" algn="ctr">
                      <a:solidFill>
                        <a:srgbClr val="E1E9F5"/>
                      </a:solidFill>
                      <a:prstDash val="solid"/>
                      <a:round/>
                      <a:headEnd type="none" w="med" len="med"/>
                      <a:tailEnd type="none" w="med" len="med"/>
                    </a:lnR>
                    <a:lnT w="6350" cap="flat" cmpd="sng" algn="ctr">
                      <a:solidFill>
                        <a:srgbClr val="E1E9F5"/>
                      </a:solidFill>
                      <a:prstDash val="solid"/>
                      <a:round/>
                      <a:headEnd type="none" w="med" len="med"/>
                      <a:tailEnd type="none" w="med" len="med"/>
                    </a:lnT>
                    <a:lnB w="6350" cap="flat" cmpd="sng" algn="ctr">
                      <a:solidFill>
                        <a:srgbClr val="E1E9F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108960"/>
            <a:ext cx="5212080" cy="502920"/>
          </a:xfrm>
          <a:prstGeom prst="rect">
            <a:avLst/>
          </a:prstGeom>
          <a:noFill/>
          <a:ln/>
        </p:spPr>
        <p:txBody>
          <a:bodyPr wrap="square" lIns="0" tIns="0" rIns="0" bIns="0" rtlCol="0" anchor="ctr"/>
          <a:lstStyle/>
          <a:p>
            <a:pPr indent="0" marL="0">
              <a:buNone/>
            </a:pPr>
            <a:r>
              <a:rPr lang="en-US" sz="850" i="1" dirty="0">
                <a:solidFill>
                  <a:srgbClr val="5B6982"/>
                </a:solidFill>
                <a:latin typeface="Calibri" pitchFamily="34" charset="0"/>
                <a:ea typeface="Calibri" pitchFamily="34" charset="-122"/>
                <a:cs typeface="Calibri" pitchFamily="34" charset="-120"/>
              </a:rPr>
              <a:t>A/B: a spec written from each human part's own mating dimensions; Kintsugi designs from the spec alone, never sees the reference; both measured by the same checker, judged blind from the sheets. † runs on the previous model provider — being re-run on GPT-6.</a:t>
            </a:r>
            <a:endParaRPr lang="en-US" sz="850" dirty="0"/>
          </a:p>
        </p:txBody>
      </p:sp>
      <p:sp>
        <p:nvSpPr>
          <p:cNvPr id="5" name="Shape 2"/>
          <p:cNvSpPr/>
          <p:nvPr/>
        </p:nvSpPr>
        <p:spPr>
          <a:xfrm>
            <a:off x="420624" y="3666744"/>
            <a:ext cx="2587752" cy="896112"/>
          </a:xfrm>
          <a:prstGeom prst="roundRect">
            <a:avLst>
              <a:gd name="adj" fmla="val 5102"/>
            </a:avLst>
          </a:prstGeom>
          <a:solidFill>
            <a:srgbClr val="FFFFFF"/>
          </a:solidFill>
          <a:ln w="9525">
            <a:solidFill>
              <a:srgbClr val="C9D6EC"/>
            </a:solidFill>
            <a:prstDash val="solid"/>
          </a:ln>
        </p:spPr>
      </p:sp>
      <p:pic>
        <p:nvPicPr>
          <p:cNvPr id="6" name="Image 0" descr="X:\Code\26Projects\kitsug\docs\submission\img\ab_human_top.png">    </p:cNvPr>
          <p:cNvPicPr>
            <a:picLocks noChangeAspect="1"/>
          </p:cNvPicPr>
          <p:nvPr/>
        </p:nvPicPr>
        <p:blipFill>
          <a:blip r:embed="rId1"/>
          <a:srcRect l="0" r="0" t="0" b="0"/>
          <a:stretch/>
        </p:blipFill>
        <p:spPr>
          <a:xfrm>
            <a:off x="457200" y="3703320"/>
            <a:ext cx="2514600" cy="822960"/>
          </a:xfrm>
          <a:prstGeom prst="rect">
            <a:avLst/>
          </a:prstGeom>
        </p:spPr>
      </p:pic>
      <p:sp>
        <p:nvSpPr>
          <p:cNvPr id="7" name="Shape 3"/>
          <p:cNvSpPr/>
          <p:nvPr/>
        </p:nvSpPr>
        <p:spPr>
          <a:xfrm>
            <a:off x="3118104" y="3666744"/>
            <a:ext cx="2587752" cy="896112"/>
          </a:xfrm>
          <a:prstGeom prst="roundRect">
            <a:avLst>
              <a:gd name="adj" fmla="val 5102"/>
            </a:avLst>
          </a:prstGeom>
          <a:solidFill>
            <a:srgbClr val="FFFFFF"/>
          </a:solidFill>
          <a:ln w="9525">
            <a:solidFill>
              <a:srgbClr val="C9D6EC"/>
            </a:solidFill>
            <a:prstDash val="solid"/>
          </a:ln>
        </p:spPr>
      </p:sp>
      <p:pic>
        <p:nvPicPr>
          <p:cNvPr id="8" name="Image 1" descr="X:\Code\26Projects\kitsug\docs\submission\img\ab_kin_top.png">    </p:cNvPr>
          <p:cNvPicPr>
            <a:picLocks noChangeAspect="1"/>
          </p:cNvPicPr>
          <p:nvPr/>
        </p:nvPicPr>
        <p:blipFill>
          <a:blip r:embed="rId2"/>
          <a:srcRect l="0" r="0" t="0" b="0"/>
          <a:stretch/>
        </p:blipFill>
        <p:spPr>
          <a:xfrm>
            <a:off x="3154680" y="3703320"/>
            <a:ext cx="2514600" cy="822960"/>
          </a:xfrm>
          <a:prstGeom prst="rect">
            <a:avLst/>
          </a:prstGeom>
        </p:spPr>
      </p:pic>
      <p:sp>
        <p:nvSpPr>
          <p:cNvPr id="9" name="Text 4"/>
          <p:cNvSpPr txBox="1"/>
          <p:nvPr/>
        </p:nvSpPr>
        <p:spPr>
          <a:xfrm>
            <a:off x="457200" y="4572000"/>
            <a:ext cx="2514600" cy="182880"/>
          </a:xfrm>
          <a:prstGeom prst="rect">
            <a:avLst/>
          </a:prstGeom>
          <a:noFill/>
          <a:ln/>
        </p:spPr>
        <p:txBody>
          <a:bodyPr wrap="square" lIns="0" tIns="0" rIns="0" bIns="0" rtlCol="0" anchor="ctr"/>
          <a:lstStyle/>
          <a:p>
            <a:pPr algn="l" indent="0" marL="0">
              <a:buNone/>
            </a:pPr>
            <a:r>
              <a:rPr lang="en-US" sz="800" dirty="0">
                <a:solidFill>
                  <a:srgbClr val="5B6982"/>
                </a:solidFill>
                <a:latin typeface="Courier New" pitchFamily="34" charset="0"/>
                <a:ea typeface="Courier New" pitchFamily="34" charset="-122"/>
                <a:cs typeface="Courier New" pitchFamily="34" charset="-120"/>
              </a:rPr>
              <a:t>human — trailer jack cap</a:t>
            </a:r>
            <a:endParaRPr lang="en-US" sz="800" dirty="0"/>
          </a:p>
        </p:txBody>
      </p:sp>
      <p:sp>
        <p:nvSpPr>
          <p:cNvPr id="10" name="Text 5"/>
          <p:cNvSpPr txBox="1"/>
          <p:nvPr/>
        </p:nvSpPr>
        <p:spPr>
          <a:xfrm>
            <a:off x="3154680" y="4572000"/>
            <a:ext cx="2514600" cy="182880"/>
          </a:xfrm>
          <a:prstGeom prst="rect">
            <a:avLst/>
          </a:prstGeom>
          <a:noFill/>
          <a:ln/>
        </p:spPr>
        <p:txBody>
          <a:bodyPr wrap="square" lIns="0" tIns="0" rIns="0" bIns="0" rtlCol="0" anchor="ctr"/>
          <a:lstStyle/>
          <a:p>
            <a:pPr algn="l" indent="0" marL="0">
              <a:buNone/>
            </a:pPr>
            <a:r>
              <a:rPr lang="en-US" sz="800" dirty="0">
                <a:solidFill>
                  <a:srgbClr val="5B6982"/>
                </a:solidFill>
                <a:latin typeface="Courier New" pitchFamily="34" charset="0"/>
                <a:ea typeface="Courier New" pitchFamily="34" charset="-122"/>
                <a:cs typeface="Courier New" pitchFamily="34" charset="-120"/>
              </a:rPr>
              <a:t>kintsugi — same spec, 2 iterations</a:t>
            </a:r>
            <a:endParaRPr lang="en-US" sz="800" dirty="0"/>
          </a:p>
        </p:txBody>
      </p:sp>
      <p:sp>
        <p:nvSpPr>
          <p:cNvPr id="11" name="Shape 6"/>
          <p:cNvSpPr/>
          <p:nvPr/>
        </p:nvSpPr>
        <p:spPr>
          <a:xfrm>
            <a:off x="5943600" y="1408176"/>
            <a:ext cx="2743200" cy="0"/>
          </a:xfrm>
          <a:prstGeom prst="line">
            <a:avLst/>
          </a:prstGeom>
          <a:noFill/>
          <a:ln w="15875">
            <a:solidFill>
              <a:srgbClr val="155DD3"/>
            </a:solidFill>
            <a:prstDash val="solid"/>
            <a:headEnd type="triangle"/>
            <a:tailEnd type="triangle"/>
          </a:ln>
        </p:spPr>
      </p:sp>
      <p:sp>
        <p:nvSpPr>
          <p:cNvPr id="12" name="Shape 7"/>
          <p:cNvSpPr/>
          <p:nvPr/>
        </p:nvSpPr>
        <p:spPr>
          <a:xfrm>
            <a:off x="5943600" y="1280160"/>
            <a:ext cx="0" cy="256032"/>
          </a:xfrm>
          <a:prstGeom prst="line">
            <a:avLst/>
          </a:prstGeom>
          <a:noFill/>
          <a:ln w="12700">
            <a:solidFill>
              <a:srgbClr val="155DD3"/>
            </a:solidFill>
            <a:prstDash val="solid"/>
          </a:ln>
        </p:spPr>
      </p:sp>
      <p:sp>
        <p:nvSpPr>
          <p:cNvPr id="13" name="Shape 8"/>
          <p:cNvSpPr/>
          <p:nvPr/>
        </p:nvSpPr>
        <p:spPr>
          <a:xfrm>
            <a:off x="8686800" y="1280160"/>
            <a:ext cx="0" cy="256032"/>
          </a:xfrm>
          <a:prstGeom prst="line">
            <a:avLst/>
          </a:prstGeom>
          <a:noFill/>
          <a:ln w="12700">
            <a:solidFill>
              <a:srgbClr val="155DD3"/>
            </a:solidFill>
            <a:prstDash val="solid"/>
          </a:ln>
        </p:spPr>
      </p:sp>
      <p:sp>
        <p:nvSpPr>
          <p:cNvPr id="14" name="Text 9"/>
          <p:cNvSpPr txBox="1"/>
          <p:nvPr/>
        </p:nvSpPr>
        <p:spPr>
          <a:xfrm>
            <a:off x="6126480" y="1216152"/>
            <a:ext cx="2377440" cy="384048"/>
          </a:xfrm>
          <a:prstGeom prst="rect">
            <a:avLst/>
          </a:prstGeom>
          <a:solidFill>
            <a:srgbClr val="F3F7FE"/>
          </a:solidFill>
          <a:ln/>
        </p:spPr>
        <p:txBody>
          <a:bodyPr wrap="square" lIns="0" tIns="0" rIns="0" bIns="0" rtlCol="0" anchor="ctr"/>
          <a:lstStyle/>
          <a:p>
            <a:pPr algn="ctr" indent="0" marL="0">
              <a:buNone/>
            </a:pPr>
            <a:r>
              <a:rPr lang="en-US" sz="1150" b="1" dirty="0">
                <a:solidFill>
                  <a:srgbClr val="155DD3"/>
                </a:solidFill>
                <a:latin typeface="Courier New" pitchFamily="34" charset="0"/>
                <a:ea typeface="Courier New" pitchFamily="34" charset="-122"/>
                <a:cs typeface="Courier New" pitchFamily="34" charset="-120"/>
              </a:rPr>
              <a:t>5/5 pass hard checks · 4/5 preferred†</a:t>
            </a:r>
            <a:endParaRPr lang="en-US" sz="1150" dirty="0"/>
          </a:p>
        </p:txBody>
      </p:sp>
      <p:sp>
        <p:nvSpPr>
          <p:cNvPr id="15" name="Text 10"/>
          <p:cNvSpPr txBox="1"/>
          <p:nvPr/>
        </p:nvSpPr>
        <p:spPr>
          <a:xfrm>
            <a:off x="5943600" y="1618488"/>
            <a:ext cx="27432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A/B vs human-designed repair parts</a:t>
            </a:r>
            <a:endParaRPr lang="en-US" sz="1100" dirty="0"/>
          </a:p>
        </p:txBody>
      </p:sp>
      <p:sp>
        <p:nvSpPr>
          <p:cNvPr id="16" name="Shape 11"/>
          <p:cNvSpPr/>
          <p:nvPr/>
        </p:nvSpPr>
        <p:spPr>
          <a:xfrm>
            <a:off x="5943600" y="2322576"/>
            <a:ext cx="2743200" cy="0"/>
          </a:xfrm>
          <a:prstGeom prst="line">
            <a:avLst/>
          </a:prstGeom>
          <a:noFill/>
          <a:ln w="15875">
            <a:solidFill>
              <a:srgbClr val="155DD3"/>
            </a:solidFill>
            <a:prstDash val="solid"/>
            <a:headEnd type="triangle"/>
            <a:tailEnd type="triangle"/>
          </a:ln>
        </p:spPr>
      </p:sp>
      <p:sp>
        <p:nvSpPr>
          <p:cNvPr id="17" name="Shape 12"/>
          <p:cNvSpPr/>
          <p:nvPr/>
        </p:nvSpPr>
        <p:spPr>
          <a:xfrm>
            <a:off x="5943600" y="2194560"/>
            <a:ext cx="0" cy="256032"/>
          </a:xfrm>
          <a:prstGeom prst="line">
            <a:avLst/>
          </a:prstGeom>
          <a:noFill/>
          <a:ln w="12700">
            <a:solidFill>
              <a:srgbClr val="155DD3"/>
            </a:solidFill>
            <a:prstDash val="solid"/>
          </a:ln>
        </p:spPr>
      </p:sp>
      <p:sp>
        <p:nvSpPr>
          <p:cNvPr id="18" name="Shape 13"/>
          <p:cNvSpPr/>
          <p:nvPr/>
        </p:nvSpPr>
        <p:spPr>
          <a:xfrm>
            <a:off x="8686800" y="2194560"/>
            <a:ext cx="0" cy="256032"/>
          </a:xfrm>
          <a:prstGeom prst="line">
            <a:avLst/>
          </a:prstGeom>
          <a:noFill/>
          <a:ln w="12700">
            <a:solidFill>
              <a:srgbClr val="155DD3"/>
            </a:solidFill>
            <a:prstDash val="solid"/>
          </a:ln>
        </p:spPr>
      </p:sp>
      <p:sp>
        <p:nvSpPr>
          <p:cNvPr id="19" name="Text 14"/>
          <p:cNvSpPr txBox="1"/>
          <p:nvPr/>
        </p:nvSpPr>
        <p:spPr>
          <a:xfrm>
            <a:off x="6300216" y="2130552"/>
            <a:ext cx="2029968"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2 / 3 caught †</a:t>
            </a:r>
            <a:endParaRPr lang="en-US" sz="1300" dirty="0"/>
          </a:p>
        </p:txBody>
      </p:sp>
      <p:sp>
        <p:nvSpPr>
          <p:cNvPr id="20" name="Text 15"/>
          <p:cNvSpPr txBox="1"/>
          <p:nvPr/>
        </p:nvSpPr>
        <p:spPr>
          <a:xfrm>
            <a:off x="5943600" y="2532888"/>
            <a:ext cx="27432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critic probe: defects the numeric checks cannot see; control passes</a:t>
            </a:r>
            <a:endParaRPr lang="en-US" sz="1100" dirty="0"/>
          </a:p>
        </p:txBody>
      </p:sp>
      <p:sp>
        <p:nvSpPr>
          <p:cNvPr id="21" name="Shape 16"/>
          <p:cNvSpPr/>
          <p:nvPr/>
        </p:nvSpPr>
        <p:spPr>
          <a:xfrm>
            <a:off x="5943600" y="3328416"/>
            <a:ext cx="2743200" cy="0"/>
          </a:xfrm>
          <a:prstGeom prst="line">
            <a:avLst/>
          </a:prstGeom>
          <a:noFill/>
          <a:ln w="15875">
            <a:solidFill>
              <a:srgbClr val="155DD3"/>
            </a:solidFill>
            <a:prstDash val="solid"/>
            <a:headEnd type="triangle"/>
            <a:tailEnd type="triangle"/>
          </a:ln>
        </p:spPr>
      </p:sp>
      <p:sp>
        <p:nvSpPr>
          <p:cNvPr id="22" name="Shape 17"/>
          <p:cNvSpPr/>
          <p:nvPr/>
        </p:nvSpPr>
        <p:spPr>
          <a:xfrm>
            <a:off x="5943600" y="3200400"/>
            <a:ext cx="0" cy="256032"/>
          </a:xfrm>
          <a:prstGeom prst="line">
            <a:avLst/>
          </a:prstGeom>
          <a:noFill/>
          <a:ln w="12700">
            <a:solidFill>
              <a:srgbClr val="155DD3"/>
            </a:solidFill>
            <a:prstDash val="solid"/>
          </a:ln>
        </p:spPr>
      </p:sp>
      <p:sp>
        <p:nvSpPr>
          <p:cNvPr id="23" name="Shape 18"/>
          <p:cNvSpPr/>
          <p:nvPr/>
        </p:nvSpPr>
        <p:spPr>
          <a:xfrm>
            <a:off x="8686800" y="3200400"/>
            <a:ext cx="0" cy="256032"/>
          </a:xfrm>
          <a:prstGeom prst="line">
            <a:avLst/>
          </a:prstGeom>
          <a:noFill/>
          <a:ln w="12700">
            <a:solidFill>
              <a:srgbClr val="155DD3"/>
            </a:solidFill>
            <a:prstDash val="solid"/>
          </a:ln>
        </p:spPr>
      </p:sp>
      <p:sp>
        <p:nvSpPr>
          <p:cNvPr id="24" name="Text 19"/>
          <p:cNvSpPr txBox="1"/>
          <p:nvPr/>
        </p:nvSpPr>
        <p:spPr>
          <a:xfrm>
            <a:off x="6574536" y="3136392"/>
            <a:ext cx="1481328"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 0.05 mm</a:t>
            </a:r>
            <a:endParaRPr lang="en-US" sz="1300" dirty="0"/>
          </a:p>
        </p:txBody>
      </p:sp>
      <p:sp>
        <p:nvSpPr>
          <p:cNvPr id="25" name="Text 20"/>
          <p:cNvSpPr txBox="1"/>
          <p:nvPr/>
        </p:nvSpPr>
        <p:spPr>
          <a:xfrm>
            <a:off x="5943600" y="3538728"/>
            <a:ext cx="27432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the toolchain on known geometry: circle fits, interference ≤3 %, measurement ≤0.5 mm — before any model</a:t>
            </a:r>
            <a:endParaRPr lang="en-US" sz="1100" dirty="0"/>
          </a:p>
        </p:txBody>
      </p:sp>
      <p:sp>
        <p:nvSpPr>
          <p:cNvPr id="26" name="Shape 21"/>
          <p:cNvSpPr/>
          <p:nvPr/>
        </p:nvSpPr>
        <p:spPr>
          <a:xfrm>
            <a:off x="5943600" y="4334256"/>
            <a:ext cx="2743200" cy="0"/>
          </a:xfrm>
          <a:prstGeom prst="line">
            <a:avLst/>
          </a:prstGeom>
          <a:noFill/>
          <a:ln w="15875">
            <a:solidFill>
              <a:srgbClr val="155DD3"/>
            </a:solidFill>
            <a:prstDash val="solid"/>
            <a:headEnd type="triangle"/>
            <a:tailEnd type="triangle"/>
          </a:ln>
        </p:spPr>
      </p:sp>
      <p:sp>
        <p:nvSpPr>
          <p:cNvPr id="27" name="Shape 22"/>
          <p:cNvSpPr/>
          <p:nvPr/>
        </p:nvSpPr>
        <p:spPr>
          <a:xfrm>
            <a:off x="5943600" y="4206240"/>
            <a:ext cx="0" cy="256032"/>
          </a:xfrm>
          <a:prstGeom prst="line">
            <a:avLst/>
          </a:prstGeom>
          <a:noFill/>
          <a:ln w="12700">
            <a:solidFill>
              <a:srgbClr val="155DD3"/>
            </a:solidFill>
            <a:prstDash val="solid"/>
          </a:ln>
        </p:spPr>
      </p:sp>
      <p:sp>
        <p:nvSpPr>
          <p:cNvPr id="28" name="Shape 23"/>
          <p:cNvSpPr/>
          <p:nvPr/>
        </p:nvSpPr>
        <p:spPr>
          <a:xfrm>
            <a:off x="8686800" y="4206240"/>
            <a:ext cx="0" cy="256032"/>
          </a:xfrm>
          <a:prstGeom prst="line">
            <a:avLst/>
          </a:prstGeom>
          <a:noFill/>
          <a:ln w="12700">
            <a:solidFill>
              <a:srgbClr val="155DD3"/>
            </a:solidFill>
            <a:prstDash val="solid"/>
          </a:ln>
        </p:spPr>
      </p:sp>
      <p:sp>
        <p:nvSpPr>
          <p:cNvPr id="29" name="Text 24"/>
          <p:cNvSpPr txBox="1"/>
          <p:nvPr/>
        </p:nvSpPr>
        <p:spPr>
          <a:xfrm>
            <a:off x="6684264" y="4142232"/>
            <a:ext cx="1261872"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1·1·1·7</a:t>
            </a:r>
            <a:endParaRPr lang="en-US" sz="1300" dirty="0"/>
          </a:p>
        </p:txBody>
      </p:sp>
      <p:sp>
        <p:nvSpPr>
          <p:cNvPr id="30" name="Text 25"/>
          <p:cNvSpPr txBox="1"/>
          <p:nvPr/>
        </p:nvSpPr>
        <p:spPr>
          <a:xfrm>
            <a:off x="5943600" y="4544568"/>
            <a:ext cx="274320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iterations to converge, four bottle-handle runs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rgbClr val="05142E"/>
                </a:solidFill>
                <a:latin typeface="Arial" pitchFamily="34" charset="0"/>
                <a:ea typeface="Arial" pitchFamily="34" charset="-122"/>
                <a:cs typeface="Arial" pitchFamily="34" charset="-120"/>
              </a:rPr>
              <a:t>A guide, not a console. A part you can change.</a:t>
            </a:r>
            <a:endParaRPr lang="en-US" sz="2600" dirty="0"/>
          </a:p>
        </p:txBody>
      </p:sp>
      <p:sp>
        <p:nvSpPr>
          <p:cNvPr id="3" name="Shape 1"/>
          <p:cNvSpPr/>
          <p:nvPr/>
        </p:nvSpPr>
        <p:spPr>
          <a:xfrm>
            <a:off x="420624" y="1106424"/>
            <a:ext cx="5422392" cy="3410712"/>
          </a:xfrm>
          <a:prstGeom prst="roundRect">
            <a:avLst>
              <a:gd name="adj" fmla="val 1340"/>
            </a:avLst>
          </a:prstGeom>
          <a:solidFill>
            <a:srgbClr val="FFFFFF"/>
          </a:solidFill>
          <a:ln w="9525">
            <a:solidFill>
              <a:srgbClr val="C9D6EC"/>
            </a:solidFill>
            <a:prstDash val="solid"/>
          </a:ln>
        </p:spPr>
      </p:sp>
      <p:pic>
        <p:nvPicPr>
          <p:cNvPr id="4" name="Image 0" descr="X:\Code\26Projects\kitsug\docs\submission\img\customizer.png">    </p:cNvPr>
          <p:cNvPicPr>
            <a:picLocks noChangeAspect="1"/>
          </p:cNvPicPr>
          <p:nvPr/>
        </p:nvPicPr>
        <p:blipFill>
          <a:blip r:embed="rId1"/>
          <a:srcRect l="0" r="0" t="0" b="0"/>
          <a:stretch/>
        </p:blipFill>
        <p:spPr>
          <a:xfrm>
            <a:off x="457200" y="1143000"/>
            <a:ext cx="5349240" cy="3337560"/>
          </a:xfrm>
          <a:prstGeom prst="rect">
            <a:avLst/>
          </a:prstGeom>
        </p:spPr>
      </p:pic>
      <p:pic>
        <p:nvPicPr>
          <p:cNvPr id="5" name="Image 1" descr="preencoded.png">    </p:cNvPr>
          <p:cNvPicPr>
            <a:picLocks noChangeAspect="1"/>
          </p:cNvPicPr>
          <p:nvPr/>
        </p:nvPicPr>
        <p:blipFill>
          <a:blip r:embed="rId2"/>
          <a:stretch>
            <a:fillRect/>
          </a:stretch>
        </p:blipFill>
        <p:spPr>
          <a:xfrm>
            <a:off x="6035040" y="1170432"/>
            <a:ext cx="237744" cy="237744"/>
          </a:xfrm>
          <a:prstGeom prst="rect">
            <a:avLst/>
          </a:prstGeom>
        </p:spPr>
      </p:pic>
      <p:sp>
        <p:nvSpPr>
          <p:cNvPr id="6" name="Text 2"/>
          <p:cNvSpPr txBox="1"/>
          <p:nvPr/>
        </p:nvSpPr>
        <p:spPr>
          <a:xfrm>
            <a:off x="6355080" y="1143000"/>
            <a:ext cx="2331720" cy="292608"/>
          </a:xfrm>
          <a:prstGeom prst="rect">
            <a:avLst/>
          </a:prstGeom>
          <a:noFill/>
          <a:ln/>
        </p:spPr>
        <p:txBody>
          <a:bodyPr wrap="square" lIns="0" tIns="0" rIns="0" bIns="0" rtlCol="0" anchor="ctr"/>
          <a:lstStyle/>
          <a:p>
            <a:pPr indent="0" marL="0">
              <a:buNone/>
            </a:pPr>
            <a:r>
              <a:rPr lang="en-US" sz="1150" b="1" dirty="0">
                <a:solidFill>
                  <a:srgbClr val="05142E"/>
                </a:solidFill>
                <a:latin typeface="Calibri" pitchFamily="34" charset="0"/>
                <a:ea typeface="Calibri" pitchFamily="34" charset="-122"/>
                <a:cs typeface="Calibri" pitchFamily="34" charset="-120"/>
              </a:rPr>
              <a:t>Sliders that know their evidence</a:t>
            </a:r>
            <a:endParaRPr lang="en-US" sz="1150" dirty="0"/>
          </a:p>
        </p:txBody>
      </p:sp>
      <p:sp>
        <p:nvSpPr>
          <p:cNvPr id="7" name="Text 3"/>
          <p:cNvSpPr txBox="1"/>
          <p:nvPr/>
        </p:nvSpPr>
        <p:spPr>
          <a:xfrm>
            <a:off x="6355080" y="1435608"/>
            <a:ext cx="2331720" cy="530352"/>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A live 3D draft on each change; the measured value, its sources and its tolerance band on the rail; computed lengths turn red against the spec before you apply.</a:t>
            </a:r>
            <a:endParaRPr lang="en-US" sz="950" dirty="0"/>
          </a:p>
        </p:txBody>
      </p:sp>
      <p:pic>
        <p:nvPicPr>
          <p:cNvPr id="8" name="Image 2" descr="preencoded.png">    </p:cNvPr>
          <p:cNvPicPr>
            <a:picLocks noChangeAspect="1"/>
          </p:cNvPicPr>
          <p:nvPr/>
        </p:nvPicPr>
        <p:blipFill>
          <a:blip r:embed="rId3"/>
          <a:stretch>
            <a:fillRect/>
          </a:stretch>
        </p:blipFill>
        <p:spPr>
          <a:xfrm>
            <a:off x="6035040" y="2020824"/>
            <a:ext cx="237744" cy="237744"/>
          </a:xfrm>
          <a:prstGeom prst="rect">
            <a:avLst/>
          </a:prstGeom>
        </p:spPr>
      </p:pic>
      <p:sp>
        <p:nvSpPr>
          <p:cNvPr id="9" name="Text 4"/>
          <p:cNvSpPr txBox="1"/>
          <p:nvPr/>
        </p:nvSpPr>
        <p:spPr>
          <a:xfrm>
            <a:off x="6355080" y="1993392"/>
            <a:ext cx="2331720" cy="292608"/>
          </a:xfrm>
          <a:prstGeom prst="rect">
            <a:avLst/>
          </a:prstGeom>
          <a:noFill/>
          <a:ln/>
        </p:spPr>
        <p:txBody>
          <a:bodyPr wrap="square" lIns="0" tIns="0" rIns="0" bIns="0" rtlCol="0" anchor="ctr"/>
          <a:lstStyle/>
          <a:p>
            <a:pPr indent="0" marL="0">
              <a:buNone/>
            </a:pPr>
            <a:r>
              <a:rPr lang="en-US" sz="1150" b="1" dirty="0">
                <a:solidFill>
                  <a:srgbClr val="05142E"/>
                </a:solidFill>
                <a:latin typeface="Calibri" pitchFamily="34" charset="0"/>
                <a:ea typeface="Calibri" pitchFamily="34" charset="-122"/>
                <a:cs typeface="Calibri" pitchFamily="34" charset="-120"/>
              </a:rPr>
              <a:t>Six steps left, the engineer's view right</a:t>
            </a:r>
            <a:endParaRPr lang="en-US" sz="1150" dirty="0"/>
          </a:p>
        </p:txBody>
      </p:sp>
      <p:sp>
        <p:nvSpPr>
          <p:cNvPr id="10" name="Text 5"/>
          <p:cNvSpPr txBox="1"/>
          <p:nvPr/>
        </p:nvSpPr>
        <p:spPr>
          <a:xfrm>
            <a:off x="6355080" y="2286000"/>
            <a:ext cx="2331720" cy="530352"/>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Photos and readings from a phone on the same Wi-Fi; checks, code, spec and graphs on the desktop.</a:t>
            </a:r>
            <a:endParaRPr lang="en-US" sz="950" dirty="0"/>
          </a:p>
        </p:txBody>
      </p:sp>
      <p:pic>
        <p:nvPicPr>
          <p:cNvPr id="11" name="Image 3" descr="preencoded.png">    </p:cNvPr>
          <p:cNvPicPr>
            <a:picLocks noChangeAspect="1"/>
          </p:cNvPicPr>
          <p:nvPr/>
        </p:nvPicPr>
        <p:blipFill>
          <a:blip r:embed="rId4"/>
          <a:stretch>
            <a:fillRect/>
          </a:stretch>
        </p:blipFill>
        <p:spPr>
          <a:xfrm>
            <a:off x="6035040" y="2871216"/>
            <a:ext cx="237744" cy="237744"/>
          </a:xfrm>
          <a:prstGeom prst="rect">
            <a:avLst/>
          </a:prstGeom>
        </p:spPr>
      </p:pic>
      <p:sp>
        <p:nvSpPr>
          <p:cNvPr id="12" name="Text 6"/>
          <p:cNvSpPr txBox="1"/>
          <p:nvPr/>
        </p:nvSpPr>
        <p:spPr>
          <a:xfrm>
            <a:off x="6355080" y="2843784"/>
            <a:ext cx="2331720" cy="292608"/>
          </a:xfrm>
          <a:prstGeom prst="rect">
            <a:avLst/>
          </a:prstGeom>
          <a:noFill/>
          <a:ln/>
        </p:spPr>
        <p:txBody>
          <a:bodyPr wrap="square" lIns="0" tIns="0" rIns="0" bIns="0" rtlCol="0" anchor="ctr"/>
          <a:lstStyle/>
          <a:p>
            <a:pPr indent="0" marL="0">
              <a:buNone/>
            </a:pPr>
            <a:r>
              <a:rPr lang="en-US" sz="1150" b="1" dirty="0">
                <a:solidFill>
                  <a:srgbClr val="05142E"/>
                </a:solidFill>
                <a:latin typeface="Calibri" pitchFamily="34" charset="0"/>
                <a:ea typeface="Calibri" pitchFamily="34" charset="-122"/>
                <a:cs typeface="Calibri" pitchFamily="34" charset="-120"/>
              </a:rPr>
              <a:t>Coupon before the part</a:t>
            </a:r>
            <a:endParaRPr lang="en-US" sz="1150" dirty="0"/>
          </a:p>
        </p:txBody>
      </p:sp>
      <p:sp>
        <p:nvSpPr>
          <p:cNvPr id="13" name="Text 7"/>
          <p:cNvSpPr txBox="1"/>
          <p:nvPr/>
        </p:nvSpPr>
        <p:spPr>
          <a:xfrm>
            <a:off x="6355080" y="3136392"/>
            <a:ext cx="2331720" cy="530352"/>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Three clearances in one small print; the one that slides on locks the fit.</a:t>
            </a:r>
            <a:endParaRPr lang="en-US" sz="950" dirty="0"/>
          </a:p>
        </p:txBody>
      </p:sp>
      <p:pic>
        <p:nvPicPr>
          <p:cNvPr id="14" name="Image 4" descr="preencoded.png">    </p:cNvPr>
          <p:cNvPicPr>
            <a:picLocks noChangeAspect="1"/>
          </p:cNvPicPr>
          <p:nvPr/>
        </p:nvPicPr>
        <p:blipFill>
          <a:blip r:embed="rId5"/>
          <a:stretch>
            <a:fillRect/>
          </a:stretch>
        </p:blipFill>
        <p:spPr>
          <a:xfrm>
            <a:off x="6035040" y="3721608"/>
            <a:ext cx="237744" cy="237744"/>
          </a:xfrm>
          <a:prstGeom prst="rect">
            <a:avLst/>
          </a:prstGeom>
        </p:spPr>
      </p:pic>
      <p:sp>
        <p:nvSpPr>
          <p:cNvPr id="15" name="Text 8"/>
          <p:cNvSpPr txBox="1"/>
          <p:nvPr/>
        </p:nvSpPr>
        <p:spPr>
          <a:xfrm>
            <a:off x="6355080" y="3694176"/>
            <a:ext cx="2331720" cy="292608"/>
          </a:xfrm>
          <a:prstGeom prst="rect">
            <a:avLst/>
          </a:prstGeom>
          <a:noFill/>
          <a:ln/>
        </p:spPr>
        <p:txBody>
          <a:bodyPr wrap="square" lIns="0" tIns="0" rIns="0" bIns="0" rtlCol="0" anchor="ctr"/>
          <a:lstStyle/>
          <a:p>
            <a:pPr indent="0" marL="0">
              <a:buNone/>
            </a:pPr>
            <a:r>
              <a:rPr lang="en-US" sz="1150" b="1" dirty="0">
                <a:solidFill>
                  <a:srgbClr val="05142E"/>
                </a:solidFill>
                <a:latin typeface="Calibri" pitchFamily="34" charset="0"/>
                <a:ea typeface="Calibri" pitchFamily="34" charset="-122"/>
                <a:cs typeface="Calibri" pitchFamily="34" charset="-120"/>
              </a:rPr>
              <a:t>Demo mode for judges</a:t>
            </a:r>
            <a:endParaRPr lang="en-US" sz="1150" dirty="0"/>
          </a:p>
        </p:txBody>
      </p:sp>
      <p:sp>
        <p:nvSpPr>
          <p:cNvPr id="16" name="Text 9"/>
          <p:cNvSpPr txBox="1"/>
          <p:nvPr/>
        </p:nvSpPr>
        <p:spPr>
          <a:xfrm>
            <a:off x="6355080" y="3986784"/>
            <a:ext cx="2331720" cy="530352"/>
          </a:xfrm>
          <a:prstGeom prst="rect">
            <a:avLst/>
          </a:prstGeom>
          <a:noFill/>
          <a:ln/>
        </p:spPr>
        <p:txBody>
          <a:bodyPr wrap="square" lIns="0" tIns="0" rIns="0" bIns="0" rtlCol="0" anchor="ctr"/>
          <a:lstStyle/>
          <a:p>
            <a:pPr indent="0" marL="0">
              <a:buNone/>
            </a:pPr>
            <a:r>
              <a:rPr lang="en-US" sz="950" dirty="0">
                <a:solidFill>
                  <a:srgbClr val="3C485C"/>
                </a:solidFill>
                <a:latin typeface="Calibri" pitchFamily="34" charset="0"/>
                <a:ea typeface="Calibri" pitchFamily="34" charset="-122"/>
                <a:cs typeface="Calibri" pitchFamily="34" charset="-120"/>
              </a:rPr>
              <a:t>A scripted designer runs the whole flow in a minute without a key; the real thing needs only an OpenAI key in Settings.</a:t>
            </a:r>
            <a:endParaRPr lang="en-US" sz="950" dirty="0"/>
          </a:p>
        </p:txBody>
      </p:sp>
      <p:sp>
        <p:nvSpPr>
          <p:cNvPr id="17" name="Text 10"/>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850" dirty="0">
                <a:solidFill>
                  <a:srgbClr val="5B6982"/>
                </a:solidFill>
                <a:latin typeface="Courier New" pitchFamily="34" charset="0"/>
                <a:ea typeface="Courier New" pitchFamily="34" charset="-122"/>
                <a:cs typeface="Courier New" pitchFamily="34" charset="-120"/>
              </a:rPr>
              <a:t>the Customize tab: a draft of the handle after two slider moves, the verified mesh ghosted behind it, the bottle neck in place, Apply &amp; verify one click away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142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F3F7FE"/>
                </a:solidFill>
                <a:latin typeface="Arial" pitchFamily="34" charset="0"/>
                <a:ea typeface="Arial" pitchFamily="34" charset="-122"/>
                <a:cs typeface="Arial" pitchFamily="34" charset="-120"/>
              </a:rPr>
              <a:t>After OFFGRID</a:t>
            </a:r>
            <a:endParaRPr lang="en-US" sz="3000" dirty="0"/>
          </a:p>
        </p:txBody>
      </p:sp>
      <p:sp>
        <p:nvSpPr>
          <p:cNvPr id="3" name="Shape 1"/>
          <p:cNvSpPr/>
          <p:nvPr/>
        </p:nvSpPr>
        <p:spPr>
          <a:xfrm>
            <a:off x="457200" y="1188720"/>
            <a:ext cx="4023360" cy="1234440"/>
          </a:xfrm>
          <a:prstGeom prst="roundRect">
            <a:avLst>
              <a:gd name="adj" fmla="val 4444"/>
            </a:avLst>
          </a:prstGeom>
          <a:solidFill>
            <a:srgbClr val="0B2049"/>
          </a:solidFill>
          <a:ln w="9525">
            <a:solidFill>
              <a:srgbClr val="2C4260"/>
            </a:solidFill>
            <a:prstDash val="solid"/>
          </a:ln>
        </p:spPr>
      </p:sp>
      <p:pic>
        <p:nvPicPr>
          <p:cNvPr id="4" name="Image 0" descr="preencoded.png">    </p:cNvPr>
          <p:cNvPicPr>
            <a:picLocks noChangeAspect="1"/>
          </p:cNvPicPr>
          <p:nvPr/>
        </p:nvPicPr>
        <p:blipFill>
          <a:blip r:embed="rId1"/>
          <a:stretch>
            <a:fillRect/>
          </a:stretch>
        </p:blipFill>
        <p:spPr>
          <a:xfrm>
            <a:off x="621792" y="1371600"/>
            <a:ext cx="310896" cy="310896"/>
          </a:xfrm>
          <a:prstGeom prst="rect">
            <a:avLst/>
          </a:prstGeom>
        </p:spPr>
      </p:pic>
      <p:sp>
        <p:nvSpPr>
          <p:cNvPr id="5" name="Text 2"/>
          <p:cNvSpPr txBox="1"/>
          <p:nvPr/>
        </p:nvSpPr>
        <p:spPr>
          <a:xfrm>
            <a:off x="1051560" y="1325880"/>
            <a:ext cx="3291840" cy="384048"/>
          </a:xfrm>
          <a:prstGeom prst="rect">
            <a:avLst/>
          </a:prstGeom>
          <a:noFill/>
          <a:ln/>
        </p:spPr>
        <p:txBody>
          <a:bodyPr wrap="square" lIns="0" tIns="0" rIns="0" bIns="0" rtlCol="0" anchor="ctr"/>
          <a:lstStyle/>
          <a:p>
            <a:pPr indent="0" marL="0">
              <a:buNone/>
            </a:pPr>
            <a:r>
              <a:rPr lang="en-US" sz="1250" b="1" dirty="0">
                <a:solidFill>
                  <a:srgbClr val="F3F7FE"/>
                </a:solidFill>
                <a:latin typeface="Calibri" pitchFamily="34" charset="0"/>
                <a:ea typeface="Calibri" pitchFamily="34" charset="-122"/>
                <a:cs typeface="Calibri" pitchFamily="34" charset="-120"/>
              </a:rPr>
              <a:t>Order the print when you have no printer</a:t>
            </a:r>
            <a:endParaRPr lang="en-US" sz="1250" dirty="0"/>
          </a:p>
        </p:txBody>
      </p:sp>
      <p:sp>
        <p:nvSpPr>
          <p:cNvPr id="6" name="Text 3"/>
          <p:cNvSpPr txBox="1"/>
          <p:nvPr/>
        </p:nvSpPr>
        <p:spPr>
          <a:xfrm>
            <a:off x="1051560" y="1737360"/>
            <a:ext cx="3291840" cy="640080"/>
          </a:xfrm>
          <a:prstGeom prst="rect">
            <a:avLst/>
          </a:prstGeom>
          <a:noFill/>
          <a:ln/>
        </p:spPr>
        <p:txBody>
          <a:bodyPr wrap="square" lIns="0" tIns="0" rIns="0" bIns="0" rtlCol="0" anchor="ctr"/>
          <a:lstStyle/>
          <a:p>
            <a:pPr indent="0" marL="0">
              <a:buNone/>
            </a:pPr>
            <a:r>
              <a:rPr lang="en-US" sz="1000" dirty="0">
                <a:solidFill>
                  <a:srgbClr val="BED4F9"/>
                </a:solidFill>
                <a:latin typeface="Calibri" pitchFamily="34" charset="0"/>
                <a:ea typeface="Calibri" pitchFamily="34" charset="-122"/>
                <a:cs typeface="Calibri" pitchFamily="34" charset="-120"/>
              </a:rPr>
              <a:t>Slant 3D Portals + Stripe from the export step — scoped, not built.</a:t>
            </a:r>
            <a:endParaRPr lang="en-US" sz="1000" dirty="0"/>
          </a:p>
        </p:txBody>
      </p:sp>
      <p:sp>
        <p:nvSpPr>
          <p:cNvPr id="7" name="Shape 4"/>
          <p:cNvSpPr/>
          <p:nvPr/>
        </p:nvSpPr>
        <p:spPr>
          <a:xfrm>
            <a:off x="4663440" y="1188720"/>
            <a:ext cx="4023360" cy="1234440"/>
          </a:xfrm>
          <a:prstGeom prst="roundRect">
            <a:avLst>
              <a:gd name="adj" fmla="val 4444"/>
            </a:avLst>
          </a:prstGeom>
          <a:solidFill>
            <a:srgbClr val="0B2049"/>
          </a:solidFill>
          <a:ln w="9525">
            <a:solidFill>
              <a:srgbClr val="2C4260"/>
            </a:solidFill>
            <a:prstDash val="solid"/>
          </a:ln>
        </p:spPr>
      </p:sp>
      <p:pic>
        <p:nvPicPr>
          <p:cNvPr id="8" name="Image 1" descr="preencoded.png">    </p:cNvPr>
          <p:cNvPicPr>
            <a:picLocks noChangeAspect="1"/>
          </p:cNvPicPr>
          <p:nvPr/>
        </p:nvPicPr>
        <p:blipFill>
          <a:blip r:embed="rId2"/>
          <a:stretch>
            <a:fillRect/>
          </a:stretch>
        </p:blipFill>
        <p:spPr>
          <a:xfrm>
            <a:off x="4828032" y="1371600"/>
            <a:ext cx="310896" cy="310896"/>
          </a:xfrm>
          <a:prstGeom prst="rect">
            <a:avLst/>
          </a:prstGeom>
        </p:spPr>
      </p:pic>
      <p:sp>
        <p:nvSpPr>
          <p:cNvPr id="9" name="Text 5"/>
          <p:cNvSpPr txBox="1"/>
          <p:nvPr/>
        </p:nvSpPr>
        <p:spPr>
          <a:xfrm>
            <a:off x="5257800" y="1325880"/>
            <a:ext cx="3291840" cy="384048"/>
          </a:xfrm>
          <a:prstGeom prst="rect">
            <a:avLst/>
          </a:prstGeom>
          <a:noFill/>
          <a:ln/>
        </p:spPr>
        <p:txBody>
          <a:bodyPr wrap="square" lIns="0" tIns="0" rIns="0" bIns="0" rtlCol="0" anchor="ctr"/>
          <a:lstStyle/>
          <a:p>
            <a:pPr indent="0" marL="0">
              <a:buNone/>
            </a:pPr>
            <a:r>
              <a:rPr lang="en-US" sz="1250" b="1" dirty="0">
                <a:solidFill>
                  <a:srgbClr val="F3F7FE"/>
                </a:solidFill>
                <a:latin typeface="Calibri" pitchFamily="34" charset="0"/>
                <a:ea typeface="Calibri" pitchFamily="34" charset="-122"/>
                <a:cs typeface="Calibri" pitchFamily="34" charset="-120"/>
              </a:rPr>
              <a:t>Publish the parametric part with its spec</a:t>
            </a:r>
            <a:endParaRPr lang="en-US" sz="1250" dirty="0"/>
          </a:p>
        </p:txBody>
      </p:sp>
      <p:sp>
        <p:nvSpPr>
          <p:cNvPr id="10" name="Text 6"/>
          <p:cNvSpPr txBox="1"/>
          <p:nvPr/>
        </p:nvSpPr>
        <p:spPr>
          <a:xfrm>
            <a:off x="5257800" y="1737360"/>
            <a:ext cx="3291840" cy="640080"/>
          </a:xfrm>
          <a:prstGeom prst="rect">
            <a:avLst/>
          </a:prstGeom>
          <a:noFill/>
          <a:ln/>
        </p:spPr>
        <p:txBody>
          <a:bodyPr wrap="square" lIns="0" tIns="0" rIns="0" bIns="0" rtlCol="0" anchor="ctr"/>
          <a:lstStyle/>
          <a:p>
            <a:pPr indent="0" marL="0">
              <a:buNone/>
            </a:pPr>
            <a:r>
              <a:rPr lang="en-US" sz="1000" dirty="0">
                <a:solidFill>
                  <a:srgbClr val="BED4F9"/>
                </a:solidFill>
                <a:latin typeface="Calibri" pitchFamily="34" charset="0"/>
                <a:ea typeface="Calibri" pitchFamily="34" charset="-122"/>
                <a:cs typeface="Calibri" pitchFamily="34" charset="-120"/>
              </a:rPr>
              <a:t>MakerWorld / Printables: the next person with the same bottle gets it in one click, with the checks attached.</a:t>
            </a:r>
            <a:endParaRPr lang="en-US" sz="1000" dirty="0"/>
          </a:p>
        </p:txBody>
      </p:sp>
      <p:sp>
        <p:nvSpPr>
          <p:cNvPr id="11" name="Shape 7"/>
          <p:cNvSpPr/>
          <p:nvPr/>
        </p:nvSpPr>
        <p:spPr>
          <a:xfrm>
            <a:off x="457200" y="2606040"/>
            <a:ext cx="4023360" cy="1234440"/>
          </a:xfrm>
          <a:prstGeom prst="roundRect">
            <a:avLst>
              <a:gd name="adj" fmla="val 4444"/>
            </a:avLst>
          </a:prstGeom>
          <a:solidFill>
            <a:srgbClr val="0B2049"/>
          </a:solidFill>
          <a:ln w="9525">
            <a:solidFill>
              <a:srgbClr val="2C4260"/>
            </a:solidFill>
            <a:prstDash val="solid"/>
          </a:ln>
        </p:spPr>
      </p:sp>
      <p:pic>
        <p:nvPicPr>
          <p:cNvPr id="12" name="Image 2" descr="preencoded.png">    </p:cNvPr>
          <p:cNvPicPr>
            <a:picLocks noChangeAspect="1"/>
          </p:cNvPicPr>
          <p:nvPr/>
        </p:nvPicPr>
        <p:blipFill>
          <a:blip r:embed="rId3"/>
          <a:stretch>
            <a:fillRect/>
          </a:stretch>
        </p:blipFill>
        <p:spPr>
          <a:xfrm>
            <a:off x="621792" y="2788920"/>
            <a:ext cx="310896" cy="310896"/>
          </a:xfrm>
          <a:prstGeom prst="rect">
            <a:avLst/>
          </a:prstGeom>
        </p:spPr>
      </p:pic>
      <p:sp>
        <p:nvSpPr>
          <p:cNvPr id="13" name="Text 8"/>
          <p:cNvSpPr txBox="1"/>
          <p:nvPr/>
        </p:nvSpPr>
        <p:spPr>
          <a:xfrm>
            <a:off x="1051560" y="2743200"/>
            <a:ext cx="3291840" cy="384048"/>
          </a:xfrm>
          <a:prstGeom prst="rect">
            <a:avLst/>
          </a:prstGeom>
          <a:noFill/>
          <a:ln/>
        </p:spPr>
        <p:txBody>
          <a:bodyPr wrap="square" lIns="0" tIns="0" rIns="0" bIns="0" rtlCol="0" anchor="ctr"/>
          <a:lstStyle/>
          <a:p>
            <a:pPr indent="0" marL="0">
              <a:buNone/>
            </a:pPr>
            <a:r>
              <a:rPr lang="en-US" sz="1250" b="1" dirty="0">
                <a:solidFill>
                  <a:srgbClr val="F3F7FE"/>
                </a:solidFill>
                <a:latin typeface="Calibri" pitchFamily="34" charset="0"/>
                <a:ea typeface="Calibri" pitchFamily="34" charset="-122"/>
                <a:cs typeface="Calibri" pitchFamily="34" charset="-120"/>
              </a:rPr>
              <a:t>Grow the standards base into an interface library</a:t>
            </a:r>
            <a:endParaRPr lang="en-US" sz="1250" dirty="0"/>
          </a:p>
        </p:txBody>
      </p:sp>
      <p:sp>
        <p:nvSpPr>
          <p:cNvPr id="14" name="Text 9"/>
          <p:cNvSpPr txBox="1"/>
          <p:nvPr/>
        </p:nvSpPr>
        <p:spPr>
          <a:xfrm>
            <a:off x="1051560" y="3154680"/>
            <a:ext cx="3291840" cy="640080"/>
          </a:xfrm>
          <a:prstGeom prst="rect">
            <a:avLst/>
          </a:prstGeom>
          <a:noFill/>
          <a:ln/>
        </p:spPr>
        <p:txBody>
          <a:bodyPr wrap="square" lIns="0" tIns="0" rIns="0" bIns="0" rtlCol="0" anchor="ctr"/>
          <a:lstStyle/>
          <a:p>
            <a:pPr indent="0" marL="0">
              <a:buNone/>
            </a:pPr>
            <a:r>
              <a:rPr lang="en-US" sz="1000" dirty="0">
                <a:solidFill>
                  <a:srgbClr val="BED4F9"/>
                </a:solidFill>
                <a:latin typeface="Calibri" pitchFamily="34" charset="0"/>
                <a:ea typeface="Calibri" pitchFamily="34" charset="-122"/>
                <a:cs typeface="Calibri" pitchFamily="34" charset="-120"/>
              </a:rPr>
              <a:t>Threads, snap profiles, appliance clips; intake matches against it with vision, one confirming photo instead of three.</a:t>
            </a:r>
            <a:endParaRPr lang="en-US" sz="1000" dirty="0"/>
          </a:p>
        </p:txBody>
      </p:sp>
      <p:sp>
        <p:nvSpPr>
          <p:cNvPr id="15" name="Shape 10"/>
          <p:cNvSpPr/>
          <p:nvPr/>
        </p:nvSpPr>
        <p:spPr>
          <a:xfrm>
            <a:off x="4663440" y="2606040"/>
            <a:ext cx="4023360" cy="1234440"/>
          </a:xfrm>
          <a:prstGeom prst="roundRect">
            <a:avLst>
              <a:gd name="adj" fmla="val 4444"/>
            </a:avLst>
          </a:prstGeom>
          <a:solidFill>
            <a:srgbClr val="0B2049"/>
          </a:solidFill>
          <a:ln w="9525">
            <a:solidFill>
              <a:srgbClr val="2C4260"/>
            </a:solidFill>
            <a:prstDash val="solid"/>
          </a:ln>
        </p:spPr>
      </p:sp>
      <p:pic>
        <p:nvPicPr>
          <p:cNvPr id="16" name="Image 3" descr="preencoded.png">    </p:cNvPr>
          <p:cNvPicPr>
            <a:picLocks noChangeAspect="1"/>
          </p:cNvPicPr>
          <p:nvPr/>
        </p:nvPicPr>
        <p:blipFill>
          <a:blip r:embed="rId4"/>
          <a:stretch>
            <a:fillRect/>
          </a:stretch>
        </p:blipFill>
        <p:spPr>
          <a:xfrm>
            <a:off x="4828032" y="2788920"/>
            <a:ext cx="310896" cy="310896"/>
          </a:xfrm>
          <a:prstGeom prst="rect">
            <a:avLst/>
          </a:prstGeom>
        </p:spPr>
      </p:pic>
      <p:sp>
        <p:nvSpPr>
          <p:cNvPr id="17" name="Text 11"/>
          <p:cNvSpPr txBox="1"/>
          <p:nvPr/>
        </p:nvSpPr>
        <p:spPr>
          <a:xfrm>
            <a:off x="5257800" y="2743200"/>
            <a:ext cx="3291840" cy="384048"/>
          </a:xfrm>
          <a:prstGeom prst="rect">
            <a:avLst/>
          </a:prstGeom>
          <a:noFill/>
          <a:ln/>
        </p:spPr>
        <p:txBody>
          <a:bodyPr wrap="square" lIns="0" tIns="0" rIns="0" bIns="0" rtlCol="0" anchor="ctr"/>
          <a:lstStyle/>
          <a:p>
            <a:pPr indent="0" marL="0">
              <a:buNone/>
            </a:pPr>
            <a:r>
              <a:rPr lang="en-US" sz="1250" b="1" dirty="0">
                <a:solidFill>
                  <a:srgbClr val="F3F7FE"/>
                </a:solidFill>
                <a:latin typeface="Calibri" pitchFamily="34" charset="0"/>
                <a:ea typeface="Calibri" pitchFamily="34" charset="-122"/>
                <a:cs typeface="Calibri" pitchFamily="34" charset="-120"/>
              </a:rPr>
              <a:t>Repair-café and makerspace fleet mode</a:t>
            </a:r>
            <a:endParaRPr lang="en-US" sz="1250" dirty="0"/>
          </a:p>
        </p:txBody>
      </p:sp>
      <p:sp>
        <p:nvSpPr>
          <p:cNvPr id="18" name="Text 12"/>
          <p:cNvSpPr txBox="1"/>
          <p:nvPr/>
        </p:nvSpPr>
        <p:spPr>
          <a:xfrm>
            <a:off x="5257800" y="3154680"/>
            <a:ext cx="3291840" cy="640080"/>
          </a:xfrm>
          <a:prstGeom prst="rect">
            <a:avLst/>
          </a:prstGeom>
          <a:noFill/>
          <a:ln/>
        </p:spPr>
        <p:txBody>
          <a:bodyPr wrap="square" lIns="0" tIns="0" rIns="0" bIns="0" rtlCol="0" anchor="ctr"/>
          <a:lstStyle/>
          <a:p>
            <a:pPr indent="0" marL="0">
              <a:buNone/>
            </a:pPr>
            <a:r>
              <a:rPr lang="en-US" sz="1000" dirty="0">
                <a:solidFill>
                  <a:srgbClr val="BED4F9"/>
                </a:solidFill>
                <a:latin typeface="Calibri" pitchFamily="34" charset="0"/>
                <a:ea typeface="Calibri" pitchFamily="34" charset="-122"/>
                <a:cs typeface="Calibri" pitchFamily="34" charset="-120"/>
              </a:rPr>
              <a:t>One server, many phones, a queue of prints; multi-photo reconstruction and a printed measuring jig for what a flat sheet cannot reach.</a:t>
            </a:r>
            <a:endParaRPr lang="en-US" sz="1000" dirty="0"/>
          </a:p>
        </p:txBody>
      </p:sp>
      <p:sp>
        <p:nvSpPr>
          <p:cNvPr id="19" name="Shape 13"/>
          <p:cNvSpPr/>
          <p:nvPr/>
        </p:nvSpPr>
        <p:spPr>
          <a:xfrm>
            <a:off x="457200" y="4288536"/>
            <a:ext cx="8229600" cy="0"/>
          </a:xfrm>
          <a:prstGeom prst="line">
            <a:avLst/>
          </a:prstGeom>
          <a:noFill/>
          <a:ln w="15875">
            <a:solidFill>
              <a:srgbClr val="6C9EF0"/>
            </a:solidFill>
            <a:prstDash val="solid"/>
            <a:headEnd type="triangle"/>
            <a:tailEnd type="triangle"/>
          </a:ln>
        </p:spPr>
      </p:sp>
      <p:sp>
        <p:nvSpPr>
          <p:cNvPr id="20" name="Shape 14"/>
          <p:cNvSpPr/>
          <p:nvPr/>
        </p:nvSpPr>
        <p:spPr>
          <a:xfrm>
            <a:off x="457200" y="4160520"/>
            <a:ext cx="0" cy="256032"/>
          </a:xfrm>
          <a:prstGeom prst="line">
            <a:avLst/>
          </a:prstGeom>
          <a:noFill/>
          <a:ln w="12700">
            <a:solidFill>
              <a:srgbClr val="6C9EF0"/>
            </a:solidFill>
            <a:prstDash val="solid"/>
          </a:ln>
        </p:spPr>
      </p:sp>
      <p:sp>
        <p:nvSpPr>
          <p:cNvPr id="21" name="Shape 15"/>
          <p:cNvSpPr/>
          <p:nvPr/>
        </p:nvSpPr>
        <p:spPr>
          <a:xfrm>
            <a:off x="8686800" y="4160520"/>
            <a:ext cx="0" cy="256032"/>
          </a:xfrm>
          <a:prstGeom prst="line">
            <a:avLst/>
          </a:prstGeom>
          <a:noFill/>
          <a:ln w="12700">
            <a:solidFill>
              <a:srgbClr val="6C9EF0"/>
            </a:solidFill>
            <a:prstDash val="solid"/>
          </a:ln>
        </p:spPr>
      </p:sp>
      <p:sp>
        <p:nvSpPr>
          <p:cNvPr id="22" name="Text 16"/>
          <p:cNvSpPr txBox="1"/>
          <p:nvPr/>
        </p:nvSpPr>
        <p:spPr>
          <a:xfrm>
            <a:off x="1362456" y="4096512"/>
            <a:ext cx="6419088" cy="384048"/>
          </a:xfrm>
          <a:prstGeom prst="rect">
            <a:avLst/>
          </a:prstGeom>
          <a:solidFill>
            <a:srgbClr val="05142E"/>
          </a:solidFill>
          <a:ln/>
        </p:spPr>
        <p:txBody>
          <a:bodyPr wrap="square" lIns="0" tIns="0" rIns="0" bIns="0" rtlCol="0" anchor="ctr"/>
          <a:lstStyle/>
          <a:p>
            <a:pPr algn="ctr" indent="0" marL="0">
              <a:buNone/>
            </a:pPr>
            <a:r>
              <a:rPr lang="en-US" sz="1300" b="1" dirty="0">
                <a:solidFill>
                  <a:srgbClr val="6C9EF0"/>
                </a:solidFill>
                <a:latin typeface="Courier New" pitchFamily="34" charset="0"/>
                <a:ea typeface="Courier New" pitchFamily="34" charset="-122"/>
                <a:cs typeface="Courier New" pitchFamily="34" charset="-120"/>
              </a:rPr>
              <a:t>$10k of credits → 50 real broken objects × 5 runs each</a:t>
            </a:r>
            <a:endParaRPr lang="en-US" sz="1300" dirty="0"/>
          </a:p>
        </p:txBody>
      </p:sp>
      <p:sp>
        <p:nvSpPr>
          <p:cNvPr id="23" name="Text 17"/>
          <p:cNvSpPr txBox="1"/>
          <p:nvPr/>
        </p:nvSpPr>
        <p:spPr>
          <a:xfrm>
            <a:off x="457200" y="4498848"/>
            <a:ext cx="8229600" cy="274320"/>
          </a:xfrm>
          <a:prstGeom prst="rect">
            <a:avLst/>
          </a:prstGeom>
          <a:noFill/>
          <a:ln/>
        </p:spPr>
        <p:txBody>
          <a:bodyPr wrap="square" lIns="0" tIns="0" rIns="0" bIns="0" rtlCol="0" anchor="ctr"/>
          <a:lstStyle/>
          <a:p>
            <a:pPr algn="ctr" indent="0" marL="0">
              <a:buNone/>
            </a:pPr>
            <a:r>
              <a:rPr lang="en-US" sz="1100" dirty="0">
                <a:solidFill>
                  <a:srgbClr val="BED4F9"/>
                </a:solidFill>
                <a:latin typeface="Calibri" pitchFamily="34" charset="0"/>
                <a:ea typeface="Calibri" pitchFamily="34" charset="-122"/>
                <a:cs typeface="Calibri" pitchFamily="34" charset="-120"/>
              </a:rPr>
              <a:t>a published benchmark of convergence, cost and fit per model and reasoning effort — the harness already exists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rgbClr val="05142E"/>
                </a:solidFill>
                <a:latin typeface="Arial" pitchFamily="34" charset="0"/>
                <a:ea typeface="Arial" pitchFamily="34" charset="-122"/>
                <a:cs typeface="Arial" pitchFamily="34" charset="-120"/>
              </a:rPr>
              <a:t>Built in the open, in the OFFGRID window.</a:t>
            </a:r>
            <a:endParaRPr lang="en-US" sz="3000" dirty="0"/>
          </a:p>
        </p:txBody>
      </p:sp>
      <p:sp>
        <p:nvSpPr>
          <p:cNvPr id="3" name="Shape 1"/>
          <p:cNvSpPr/>
          <p:nvPr/>
        </p:nvSpPr>
        <p:spPr>
          <a:xfrm>
            <a:off x="457200" y="1234440"/>
            <a:ext cx="310896" cy="310896"/>
          </a:xfrm>
          <a:prstGeom prst="ellipse">
            <a:avLst/>
          </a:prstGeom>
          <a:solidFill>
            <a:srgbClr val="155DD3"/>
          </a:solidFill>
          <a:ln w="12700">
            <a:solidFill>
              <a:srgbClr val="155DD3"/>
            </a:solidFill>
            <a:prstDash val="solid"/>
          </a:ln>
        </p:spPr>
      </p:sp>
      <p:sp>
        <p:nvSpPr>
          <p:cNvPr id="4" name="Text 2"/>
          <p:cNvSpPr txBox="1"/>
          <p:nvPr/>
        </p:nvSpPr>
        <p:spPr>
          <a:xfrm>
            <a:off x="457200"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 name="Shape 3"/>
          <p:cNvSpPr/>
          <p:nvPr/>
        </p:nvSpPr>
        <p:spPr>
          <a:xfrm>
            <a:off x="822960" y="1389888"/>
            <a:ext cx="960120" cy="0"/>
          </a:xfrm>
          <a:prstGeom prst="line">
            <a:avLst/>
          </a:prstGeom>
          <a:noFill/>
          <a:ln w="12700">
            <a:solidFill>
              <a:srgbClr val="C9D6EC"/>
            </a:solidFill>
            <a:prstDash val="solid"/>
            <a:tailEnd type="triangle"/>
          </a:ln>
        </p:spPr>
      </p:sp>
      <p:sp>
        <p:nvSpPr>
          <p:cNvPr id="6" name="Text 4"/>
          <p:cNvSpPr txBox="1"/>
          <p:nvPr/>
        </p:nvSpPr>
        <p:spPr>
          <a:xfrm>
            <a:off x="365760" y="1645920"/>
            <a:ext cx="1371600" cy="274320"/>
          </a:xfrm>
          <a:prstGeom prst="rect">
            <a:avLst/>
          </a:prstGeom>
          <a:noFill/>
          <a:ln/>
        </p:spPr>
        <p:txBody>
          <a:bodyPr wrap="square" lIns="0" tIns="0" rIns="0" bIns="0" rtlCol="0" anchor="ctr"/>
          <a:lstStyle/>
          <a:p>
            <a:pPr indent="0" marL="0">
              <a:buNone/>
            </a:pPr>
            <a:r>
              <a:rPr lang="en-US" sz="1100" b="1" dirty="0">
                <a:solidFill>
                  <a:srgbClr val="05142E"/>
                </a:solidFill>
                <a:latin typeface="Calibri" pitchFamily="34" charset="0"/>
                <a:ea typeface="Calibri" pitchFamily="34" charset="-122"/>
                <a:cs typeface="Calibri" pitchFamily="34" charset="-120"/>
              </a:rPr>
              <a:t>toolchain</a:t>
            </a:r>
            <a:endParaRPr lang="en-US" sz="1100" dirty="0"/>
          </a:p>
        </p:txBody>
      </p:sp>
      <p:sp>
        <p:nvSpPr>
          <p:cNvPr id="7" name="Text 5"/>
          <p:cNvSpPr txBox="1"/>
          <p:nvPr/>
        </p:nvSpPr>
        <p:spPr>
          <a:xfrm>
            <a:off x="365760" y="1920240"/>
            <a:ext cx="1371600" cy="548640"/>
          </a:xfrm>
          <a:prstGeom prst="rect">
            <a:avLst/>
          </a:prstGeom>
          <a:noFill/>
          <a:ln/>
        </p:spPr>
        <p:txBody>
          <a:bodyPr wrap="square" lIns="0" tIns="0" rIns="0" bIns="0" rtlCol="0" anchor="ctr"/>
          <a:lstStyle/>
          <a:p>
            <a:pPr indent="0" marL="0">
              <a:buNone/>
            </a:pPr>
            <a:r>
              <a:rPr lang="en-US" sz="900" dirty="0">
                <a:solidFill>
                  <a:srgbClr val="3C485C"/>
                </a:solidFill>
                <a:latin typeface="Calibri" pitchFamily="34" charset="0"/>
                <a:ea typeface="Calibri" pitchFamily="34" charset="-122"/>
                <a:cs typeface="Calibri" pitchFamily="34" charset="-120"/>
              </a:rPr>
              <a:t>compile · checks · renderer · spec</a:t>
            </a:r>
            <a:endParaRPr lang="en-US" sz="900" dirty="0"/>
          </a:p>
        </p:txBody>
      </p:sp>
      <p:sp>
        <p:nvSpPr>
          <p:cNvPr id="8" name="Shape 6"/>
          <p:cNvSpPr/>
          <p:nvPr/>
        </p:nvSpPr>
        <p:spPr>
          <a:xfrm>
            <a:off x="1847088" y="1234440"/>
            <a:ext cx="310896" cy="310896"/>
          </a:xfrm>
          <a:prstGeom prst="ellipse">
            <a:avLst/>
          </a:prstGeom>
          <a:solidFill>
            <a:srgbClr val="155DD3"/>
          </a:solidFill>
          <a:ln w="12700">
            <a:solidFill>
              <a:srgbClr val="155DD3"/>
            </a:solidFill>
            <a:prstDash val="solid"/>
          </a:ln>
        </p:spPr>
      </p:sp>
      <p:sp>
        <p:nvSpPr>
          <p:cNvPr id="9" name="Text 7"/>
          <p:cNvSpPr txBox="1"/>
          <p:nvPr/>
        </p:nvSpPr>
        <p:spPr>
          <a:xfrm>
            <a:off x="1847088"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Shape 8"/>
          <p:cNvSpPr/>
          <p:nvPr/>
        </p:nvSpPr>
        <p:spPr>
          <a:xfrm>
            <a:off x="2212848" y="1389888"/>
            <a:ext cx="960120" cy="0"/>
          </a:xfrm>
          <a:prstGeom prst="line">
            <a:avLst/>
          </a:prstGeom>
          <a:noFill/>
          <a:ln w="12700">
            <a:solidFill>
              <a:srgbClr val="C9D6EC"/>
            </a:solidFill>
            <a:prstDash val="solid"/>
            <a:tailEnd type="triangle"/>
          </a:ln>
        </p:spPr>
      </p:sp>
      <p:sp>
        <p:nvSpPr>
          <p:cNvPr id="11" name="Text 9"/>
          <p:cNvSpPr txBox="1"/>
          <p:nvPr/>
        </p:nvSpPr>
        <p:spPr>
          <a:xfrm>
            <a:off x="1755648" y="1645920"/>
            <a:ext cx="1371600" cy="274320"/>
          </a:xfrm>
          <a:prstGeom prst="rect">
            <a:avLst/>
          </a:prstGeom>
          <a:noFill/>
          <a:ln/>
        </p:spPr>
        <p:txBody>
          <a:bodyPr wrap="square" lIns="0" tIns="0" rIns="0" bIns="0" rtlCol="0" anchor="ctr"/>
          <a:lstStyle/>
          <a:p>
            <a:pPr indent="0" marL="0">
              <a:buNone/>
            </a:pPr>
            <a:r>
              <a:rPr lang="en-US" sz="1100" b="1" dirty="0">
                <a:solidFill>
                  <a:srgbClr val="05142E"/>
                </a:solidFill>
                <a:latin typeface="Calibri" pitchFamily="34" charset="0"/>
                <a:ea typeface="Calibri" pitchFamily="34" charset="-122"/>
                <a:cs typeface="Calibri" pitchFamily="34" charset="-120"/>
              </a:rPr>
              <a:t>design loop</a:t>
            </a:r>
            <a:endParaRPr lang="en-US" sz="1100" dirty="0"/>
          </a:p>
        </p:txBody>
      </p:sp>
      <p:sp>
        <p:nvSpPr>
          <p:cNvPr id="12" name="Text 10"/>
          <p:cNvSpPr txBox="1"/>
          <p:nvPr/>
        </p:nvSpPr>
        <p:spPr>
          <a:xfrm>
            <a:off x="1755648" y="1920240"/>
            <a:ext cx="1371600" cy="548640"/>
          </a:xfrm>
          <a:prstGeom prst="rect">
            <a:avLst/>
          </a:prstGeom>
          <a:noFill/>
          <a:ln/>
        </p:spPr>
        <p:txBody>
          <a:bodyPr wrap="square" lIns="0" tIns="0" rIns="0" bIns="0" rtlCol="0" anchor="ctr"/>
          <a:lstStyle/>
          <a:p>
            <a:pPr indent="0" marL="0">
              <a:buNone/>
            </a:pPr>
            <a:r>
              <a:rPr lang="en-US" sz="900" dirty="0">
                <a:solidFill>
                  <a:srgbClr val="3C485C"/>
                </a:solidFill>
                <a:latin typeface="Calibri" pitchFamily="34" charset="0"/>
                <a:ea typeface="Calibri" pitchFamily="34" charset="-122"/>
                <a:cs typeface="Calibri" pitchFamily="34" charset="-120"/>
              </a:rPr>
              <a:t>critic · policy · A/B eval</a:t>
            </a:r>
            <a:endParaRPr lang="en-US" sz="900" dirty="0"/>
          </a:p>
        </p:txBody>
      </p:sp>
      <p:sp>
        <p:nvSpPr>
          <p:cNvPr id="13" name="Shape 11"/>
          <p:cNvSpPr/>
          <p:nvPr/>
        </p:nvSpPr>
        <p:spPr>
          <a:xfrm>
            <a:off x="3236976" y="1234440"/>
            <a:ext cx="310896" cy="310896"/>
          </a:xfrm>
          <a:prstGeom prst="ellipse">
            <a:avLst/>
          </a:prstGeom>
          <a:solidFill>
            <a:srgbClr val="155DD3"/>
          </a:solidFill>
          <a:ln w="12700">
            <a:solidFill>
              <a:srgbClr val="155DD3"/>
            </a:solidFill>
            <a:prstDash val="solid"/>
          </a:ln>
        </p:spPr>
      </p:sp>
      <p:sp>
        <p:nvSpPr>
          <p:cNvPr id="14" name="Text 12"/>
          <p:cNvSpPr txBox="1"/>
          <p:nvPr/>
        </p:nvSpPr>
        <p:spPr>
          <a:xfrm>
            <a:off x="3236976"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5" name="Shape 13"/>
          <p:cNvSpPr/>
          <p:nvPr/>
        </p:nvSpPr>
        <p:spPr>
          <a:xfrm>
            <a:off x="3602736" y="1389888"/>
            <a:ext cx="960120" cy="0"/>
          </a:xfrm>
          <a:prstGeom prst="line">
            <a:avLst/>
          </a:prstGeom>
          <a:noFill/>
          <a:ln w="12700">
            <a:solidFill>
              <a:srgbClr val="C9D6EC"/>
            </a:solidFill>
            <a:prstDash val="solid"/>
            <a:tailEnd type="triangle"/>
          </a:ln>
        </p:spPr>
      </p:sp>
      <p:sp>
        <p:nvSpPr>
          <p:cNvPr id="16" name="Text 14"/>
          <p:cNvSpPr txBox="1"/>
          <p:nvPr/>
        </p:nvSpPr>
        <p:spPr>
          <a:xfrm>
            <a:off x="3145536" y="1645920"/>
            <a:ext cx="1371600" cy="274320"/>
          </a:xfrm>
          <a:prstGeom prst="rect">
            <a:avLst/>
          </a:prstGeom>
          <a:noFill/>
          <a:ln/>
        </p:spPr>
        <p:txBody>
          <a:bodyPr wrap="square" lIns="0" tIns="0" rIns="0" bIns="0" rtlCol="0" anchor="ctr"/>
          <a:lstStyle/>
          <a:p>
            <a:pPr indent="0" marL="0">
              <a:buNone/>
            </a:pPr>
            <a:r>
              <a:rPr lang="en-US" sz="1100" b="1" dirty="0">
                <a:solidFill>
                  <a:srgbClr val="05142E"/>
                </a:solidFill>
                <a:latin typeface="Calibri" pitchFamily="34" charset="0"/>
                <a:ea typeface="Calibri" pitchFamily="34" charset="-122"/>
                <a:cs typeface="Calibri" pitchFamily="34" charset="-120"/>
              </a:rPr>
              <a:t>measurement</a:t>
            </a:r>
            <a:endParaRPr lang="en-US" sz="1100" dirty="0"/>
          </a:p>
        </p:txBody>
      </p:sp>
      <p:sp>
        <p:nvSpPr>
          <p:cNvPr id="17" name="Text 15"/>
          <p:cNvSpPr txBox="1"/>
          <p:nvPr/>
        </p:nvSpPr>
        <p:spPr>
          <a:xfrm>
            <a:off x="3145536" y="1920240"/>
            <a:ext cx="1371600" cy="548640"/>
          </a:xfrm>
          <a:prstGeom prst="rect">
            <a:avLst/>
          </a:prstGeom>
          <a:noFill/>
          <a:ln/>
        </p:spPr>
        <p:txBody>
          <a:bodyPr wrap="square" lIns="0" tIns="0" rIns="0" bIns="0" rtlCol="0" anchor="ctr"/>
          <a:lstStyle/>
          <a:p>
            <a:pPr indent="0" marL="0">
              <a:buNone/>
            </a:pPr>
            <a:r>
              <a:rPr lang="en-US" sz="900" dirty="0">
                <a:solidFill>
                  <a:srgbClr val="3C485C"/>
                </a:solidFill>
                <a:latin typeface="Calibri" pitchFamily="34" charset="0"/>
                <a:ea typeface="Calibri" pitchFamily="34" charset="-122"/>
                <a:cs typeface="Calibri" pitchFamily="34" charset="-120"/>
              </a:rPr>
              <a:t>sheet · rectify · circle fit</a:t>
            </a:r>
            <a:endParaRPr lang="en-US" sz="900" dirty="0"/>
          </a:p>
        </p:txBody>
      </p:sp>
      <p:sp>
        <p:nvSpPr>
          <p:cNvPr id="18" name="Shape 16"/>
          <p:cNvSpPr/>
          <p:nvPr/>
        </p:nvSpPr>
        <p:spPr>
          <a:xfrm>
            <a:off x="4626864" y="1234440"/>
            <a:ext cx="310896" cy="310896"/>
          </a:xfrm>
          <a:prstGeom prst="ellipse">
            <a:avLst/>
          </a:prstGeom>
          <a:solidFill>
            <a:srgbClr val="155DD3"/>
          </a:solidFill>
          <a:ln w="12700">
            <a:solidFill>
              <a:srgbClr val="155DD3"/>
            </a:solidFill>
            <a:prstDash val="solid"/>
          </a:ln>
        </p:spPr>
      </p:sp>
      <p:sp>
        <p:nvSpPr>
          <p:cNvPr id="19" name="Text 17"/>
          <p:cNvSpPr txBox="1"/>
          <p:nvPr/>
        </p:nvSpPr>
        <p:spPr>
          <a:xfrm>
            <a:off x="4626864"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Shape 18"/>
          <p:cNvSpPr/>
          <p:nvPr/>
        </p:nvSpPr>
        <p:spPr>
          <a:xfrm>
            <a:off x="4992624" y="1389888"/>
            <a:ext cx="960120" cy="0"/>
          </a:xfrm>
          <a:prstGeom prst="line">
            <a:avLst/>
          </a:prstGeom>
          <a:noFill/>
          <a:ln w="12700">
            <a:solidFill>
              <a:srgbClr val="C9D6EC"/>
            </a:solidFill>
            <a:prstDash val="solid"/>
            <a:tailEnd type="triangle"/>
          </a:ln>
        </p:spPr>
      </p:sp>
      <p:sp>
        <p:nvSpPr>
          <p:cNvPr id="21" name="Text 19"/>
          <p:cNvSpPr txBox="1"/>
          <p:nvPr/>
        </p:nvSpPr>
        <p:spPr>
          <a:xfrm>
            <a:off x="4535424" y="1645920"/>
            <a:ext cx="1371600" cy="274320"/>
          </a:xfrm>
          <a:prstGeom prst="rect">
            <a:avLst/>
          </a:prstGeom>
          <a:noFill/>
          <a:ln/>
        </p:spPr>
        <p:txBody>
          <a:bodyPr wrap="square" lIns="0" tIns="0" rIns="0" bIns="0" rtlCol="0" anchor="ctr"/>
          <a:lstStyle/>
          <a:p>
            <a:pPr indent="0" marL="0">
              <a:buNone/>
            </a:pPr>
            <a:r>
              <a:rPr lang="en-US" sz="1100" b="1" dirty="0">
                <a:solidFill>
                  <a:srgbClr val="05142E"/>
                </a:solidFill>
                <a:latin typeface="Calibri" pitchFamily="34" charset="0"/>
                <a:ea typeface="Calibri" pitchFamily="34" charset="-122"/>
                <a:cs typeface="Calibri" pitchFamily="34" charset="-120"/>
              </a:rPr>
              <a:t>web workspace</a:t>
            </a:r>
            <a:endParaRPr lang="en-US" sz="1100" dirty="0"/>
          </a:p>
        </p:txBody>
      </p:sp>
      <p:sp>
        <p:nvSpPr>
          <p:cNvPr id="22" name="Text 20"/>
          <p:cNvSpPr txBox="1"/>
          <p:nvPr/>
        </p:nvSpPr>
        <p:spPr>
          <a:xfrm>
            <a:off x="4535424" y="1920240"/>
            <a:ext cx="1371600" cy="548640"/>
          </a:xfrm>
          <a:prstGeom prst="rect">
            <a:avLst/>
          </a:prstGeom>
          <a:noFill/>
          <a:ln/>
        </p:spPr>
        <p:txBody>
          <a:bodyPr wrap="square" lIns="0" tIns="0" rIns="0" bIns="0" rtlCol="0" anchor="ctr"/>
          <a:lstStyle/>
          <a:p>
            <a:pPr indent="0" marL="0">
              <a:buNone/>
            </a:pPr>
            <a:r>
              <a:rPr lang="en-US" sz="900" dirty="0">
                <a:solidFill>
                  <a:srgbClr val="3C485C"/>
                </a:solidFill>
                <a:latin typeface="Calibri" pitchFamily="34" charset="0"/>
                <a:ea typeface="Calibri" pitchFamily="34" charset="-122"/>
                <a:cs typeface="Calibri" pitchFamily="34" charset="-120"/>
              </a:rPr>
              <a:t>SSE · 3D · sheets · sliders</a:t>
            </a:r>
            <a:endParaRPr lang="en-US" sz="900" dirty="0"/>
          </a:p>
        </p:txBody>
      </p:sp>
      <p:sp>
        <p:nvSpPr>
          <p:cNvPr id="23" name="Shape 21"/>
          <p:cNvSpPr/>
          <p:nvPr/>
        </p:nvSpPr>
        <p:spPr>
          <a:xfrm>
            <a:off x="6016752" y="1234440"/>
            <a:ext cx="310896" cy="310896"/>
          </a:xfrm>
          <a:prstGeom prst="ellipse">
            <a:avLst/>
          </a:prstGeom>
          <a:solidFill>
            <a:srgbClr val="155DD3"/>
          </a:solidFill>
          <a:ln w="12700">
            <a:solidFill>
              <a:srgbClr val="155DD3"/>
            </a:solidFill>
            <a:prstDash val="solid"/>
          </a:ln>
        </p:spPr>
      </p:sp>
      <p:sp>
        <p:nvSpPr>
          <p:cNvPr id="24" name="Text 22"/>
          <p:cNvSpPr txBox="1"/>
          <p:nvPr/>
        </p:nvSpPr>
        <p:spPr>
          <a:xfrm>
            <a:off x="6016752"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5" name="Shape 23"/>
          <p:cNvSpPr/>
          <p:nvPr/>
        </p:nvSpPr>
        <p:spPr>
          <a:xfrm>
            <a:off x="6382512" y="1389888"/>
            <a:ext cx="960120" cy="0"/>
          </a:xfrm>
          <a:prstGeom prst="line">
            <a:avLst/>
          </a:prstGeom>
          <a:noFill/>
          <a:ln w="12700">
            <a:solidFill>
              <a:srgbClr val="C9D6EC"/>
            </a:solidFill>
            <a:prstDash val="solid"/>
            <a:tailEnd type="triangle"/>
          </a:ln>
        </p:spPr>
      </p:sp>
      <p:sp>
        <p:nvSpPr>
          <p:cNvPr id="26" name="Text 24"/>
          <p:cNvSpPr txBox="1"/>
          <p:nvPr/>
        </p:nvSpPr>
        <p:spPr>
          <a:xfrm>
            <a:off x="5925312" y="1645920"/>
            <a:ext cx="1371600" cy="274320"/>
          </a:xfrm>
          <a:prstGeom prst="rect">
            <a:avLst/>
          </a:prstGeom>
          <a:noFill/>
          <a:ln/>
        </p:spPr>
        <p:txBody>
          <a:bodyPr wrap="square" lIns="0" tIns="0" rIns="0" bIns="0" rtlCol="0" anchor="ctr"/>
          <a:lstStyle/>
          <a:p>
            <a:pPr indent="0" marL="0">
              <a:buNone/>
            </a:pPr>
            <a:r>
              <a:rPr lang="en-US" sz="1100" b="1" dirty="0">
                <a:solidFill>
                  <a:srgbClr val="05142E"/>
                </a:solidFill>
                <a:latin typeface="Calibri" pitchFamily="34" charset="0"/>
                <a:ea typeface="Calibri" pitchFamily="34" charset="-122"/>
                <a:cs typeface="Calibri" pitchFamily="34" charset="-120"/>
              </a:rPr>
              <a:t>OpenAI port</a:t>
            </a:r>
            <a:endParaRPr lang="en-US" sz="1100" dirty="0"/>
          </a:p>
        </p:txBody>
      </p:sp>
      <p:sp>
        <p:nvSpPr>
          <p:cNvPr id="27" name="Text 25"/>
          <p:cNvSpPr txBox="1"/>
          <p:nvPr/>
        </p:nvSpPr>
        <p:spPr>
          <a:xfrm>
            <a:off x="5925312" y="1920240"/>
            <a:ext cx="1371600" cy="548640"/>
          </a:xfrm>
          <a:prstGeom prst="rect">
            <a:avLst/>
          </a:prstGeom>
          <a:noFill/>
          <a:ln/>
        </p:spPr>
        <p:txBody>
          <a:bodyPr wrap="square" lIns="0" tIns="0" rIns="0" bIns="0" rtlCol="0" anchor="ctr"/>
          <a:lstStyle/>
          <a:p>
            <a:pPr indent="0" marL="0">
              <a:buNone/>
            </a:pPr>
            <a:r>
              <a:rPr lang="en-US" sz="900" dirty="0">
                <a:solidFill>
                  <a:srgbClr val="3C485C"/>
                </a:solidFill>
                <a:latin typeface="Calibri" pitchFamily="34" charset="0"/>
                <a:ea typeface="Calibri" pitchFamily="34" charset="-122"/>
                <a:cs typeface="Calibri" pitchFamily="34" charset="-120"/>
              </a:rPr>
              <a:t>Responses API · fake provider</a:t>
            </a:r>
            <a:endParaRPr lang="en-US" sz="900" dirty="0"/>
          </a:p>
        </p:txBody>
      </p:sp>
      <p:sp>
        <p:nvSpPr>
          <p:cNvPr id="28" name="Shape 26"/>
          <p:cNvSpPr/>
          <p:nvPr/>
        </p:nvSpPr>
        <p:spPr>
          <a:xfrm>
            <a:off x="7406640" y="1234440"/>
            <a:ext cx="310896" cy="310896"/>
          </a:xfrm>
          <a:prstGeom prst="ellipse">
            <a:avLst/>
          </a:prstGeom>
          <a:solidFill>
            <a:srgbClr val="1F7A46"/>
          </a:solidFill>
          <a:ln w="12700">
            <a:solidFill>
              <a:srgbClr val="1F7A46"/>
            </a:solidFill>
            <a:prstDash val="solid"/>
          </a:ln>
        </p:spPr>
      </p:sp>
      <p:sp>
        <p:nvSpPr>
          <p:cNvPr id="29" name="Text 27"/>
          <p:cNvSpPr txBox="1"/>
          <p:nvPr/>
        </p:nvSpPr>
        <p:spPr>
          <a:xfrm>
            <a:off x="7406640"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0" name="Text 28"/>
          <p:cNvSpPr txBox="1"/>
          <p:nvPr/>
        </p:nvSpPr>
        <p:spPr>
          <a:xfrm>
            <a:off x="7315200" y="1645920"/>
            <a:ext cx="1371600" cy="274320"/>
          </a:xfrm>
          <a:prstGeom prst="rect">
            <a:avLst/>
          </a:prstGeom>
          <a:noFill/>
          <a:ln/>
        </p:spPr>
        <p:txBody>
          <a:bodyPr wrap="square" lIns="0" tIns="0" rIns="0" bIns="0" rtlCol="0" anchor="ctr"/>
          <a:lstStyle/>
          <a:p>
            <a:pPr indent="0" marL="0">
              <a:buNone/>
            </a:pPr>
            <a:r>
              <a:rPr lang="en-US" sz="1100" b="1" dirty="0">
                <a:solidFill>
                  <a:srgbClr val="05142E"/>
                </a:solidFill>
                <a:latin typeface="Calibri" pitchFamily="34" charset="0"/>
                <a:ea typeface="Calibri" pitchFamily="34" charset="-122"/>
                <a:cs typeface="Calibri" pitchFamily="34" charset="-120"/>
              </a:rPr>
              <a:t>graph engineering</a:t>
            </a:r>
            <a:endParaRPr lang="en-US" sz="1100" dirty="0"/>
          </a:p>
        </p:txBody>
      </p:sp>
      <p:sp>
        <p:nvSpPr>
          <p:cNvPr id="31" name="Text 29"/>
          <p:cNvSpPr txBox="1"/>
          <p:nvPr/>
        </p:nvSpPr>
        <p:spPr>
          <a:xfrm>
            <a:off x="7315200" y="1920240"/>
            <a:ext cx="1371600" cy="548640"/>
          </a:xfrm>
          <a:prstGeom prst="rect">
            <a:avLst/>
          </a:prstGeom>
          <a:noFill/>
          <a:ln/>
        </p:spPr>
        <p:txBody>
          <a:bodyPr wrap="square" lIns="0" tIns="0" rIns="0" bIns="0" rtlCol="0" anchor="ctr"/>
          <a:lstStyle/>
          <a:p>
            <a:pPr indent="0" marL="0">
              <a:buNone/>
            </a:pPr>
            <a:r>
              <a:rPr lang="en-US" sz="900" dirty="0">
                <a:solidFill>
                  <a:srgbClr val="3C485C"/>
                </a:solidFill>
                <a:latin typeface="Calibri" pitchFamily="34" charset="0"/>
                <a:ea typeface="Calibri" pitchFamily="34" charset="-122"/>
                <a:cs typeface="Calibri" pitchFamily="34" charset="-120"/>
              </a:rPr>
              <a:t>runtime · evidence · capture loop</a:t>
            </a:r>
            <a:endParaRPr lang="en-US" sz="900" dirty="0"/>
          </a:p>
        </p:txBody>
      </p:sp>
      <p:sp>
        <p:nvSpPr>
          <p:cNvPr id="32" name="Shape 30"/>
          <p:cNvSpPr/>
          <p:nvPr/>
        </p:nvSpPr>
        <p:spPr>
          <a:xfrm>
            <a:off x="457200" y="2962656"/>
            <a:ext cx="1920240" cy="0"/>
          </a:xfrm>
          <a:prstGeom prst="line">
            <a:avLst/>
          </a:prstGeom>
          <a:noFill/>
          <a:ln w="15875">
            <a:solidFill>
              <a:srgbClr val="155DD3"/>
            </a:solidFill>
            <a:prstDash val="solid"/>
            <a:headEnd type="triangle"/>
            <a:tailEnd type="triangle"/>
          </a:ln>
        </p:spPr>
      </p:sp>
      <p:sp>
        <p:nvSpPr>
          <p:cNvPr id="33" name="Shape 31"/>
          <p:cNvSpPr/>
          <p:nvPr/>
        </p:nvSpPr>
        <p:spPr>
          <a:xfrm>
            <a:off x="457200" y="2834640"/>
            <a:ext cx="0" cy="256032"/>
          </a:xfrm>
          <a:prstGeom prst="line">
            <a:avLst/>
          </a:prstGeom>
          <a:noFill/>
          <a:ln w="12700">
            <a:solidFill>
              <a:srgbClr val="155DD3"/>
            </a:solidFill>
            <a:prstDash val="solid"/>
          </a:ln>
        </p:spPr>
      </p:sp>
      <p:sp>
        <p:nvSpPr>
          <p:cNvPr id="34" name="Shape 32"/>
          <p:cNvSpPr/>
          <p:nvPr/>
        </p:nvSpPr>
        <p:spPr>
          <a:xfrm>
            <a:off x="2377440" y="2834640"/>
            <a:ext cx="0" cy="256032"/>
          </a:xfrm>
          <a:prstGeom prst="line">
            <a:avLst/>
          </a:prstGeom>
          <a:noFill/>
          <a:ln w="12700">
            <a:solidFill>
              <a:srgbClr val="155DD3"/>
            </a:solidFill>
            <a:prstDash val="solid"/>
          </a:ln>
        </p:spPr>
      </p:sp>
      <p:sp>
        <p:nvSpPr>
          <p:cNvPr id="35" name="Text 33"/>
          <p:cNvSpPr txBox="1"/>
          <p:nvPr/>
        </p:nvSpPr>
        <p:spPr>
          <a:xfrm>
            <a:off x="640080" y="2770632"/>
            <a:ext cx="1554480"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1 real GPT-6 run</a:t>
            </a:r>
            <a:endParaRPr lang="en-US" sz="1300" dirty="0"/>
          </a:p>
        </p:txBody>
      </p:sp>
      <p:sp>
        <p:nvSpPr>
          <p:cNvPr id="36" name="Text 34"/>
          <p:cNvSpPr txBox="1"/>
          <p:nvPr/>
        </p:nvSpPr>
        <p:spPr>
          <a:xfrm>
            <a:off x="457200" y="3172968"/>
            <a:ext cx="192024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2 iterations · $1.01</a:t>
            </a:r>
            <a:endParaRPr lang="en-US" sz="1100" dirty="0"/>
          </a:p>
        </p:txBody>
      </p:sp>
      <p:sp>
        <p:nvSpPr>
          <p:cNvPr id="37" name="Shape 35"/>
          <p:cNvSpPr/>
          <p:nvPr/>
        </p:nvSpPr>
        <p:spPr>
          <a:xfrm>
            <a:off x="2560320" y="2962656"/>
            <a:ext cx="1920240" cy="0"/>
          </a:xfrm>
          <a:prstGeom prst="line">
            <a:avLst/>
          </a:prstGeom>
          <a:noFill/>
          <a:ln w="15875">
            <a:solidFill>
              <a:srgbClr val="155DD3"/>
            </a:solidFill>
            <a:prstDash val="solid"/>
            <a:headEnd type="triangle"/>
            <a:tailEnd type="triangle"/>
          </a:ln>
        </p:spPr>
      </p:sp>
      <p:sp>
        <p:nvSpPr>
          <p:cNvPr id="38" name="Shape 36"/>
          <p:cNvSpPr/>
          <p:nvPr/>
        </p:nvSpPr>
        <p:spPr>
          <a:xfrm>
            <a:off x="2560320" y="2834640"/>
            <a:ext cx="0" cy="256032"/>
          </a:xfrm>
          <a:prstGeom prst="line">
            <a:avLst/>
          </a:prstGeom>
          <a:noFill/>
          <a:ln w="12700">
            <a:solidFill>
              <a:srgbClr val="155DD3"/>
            </a:solidFill>
            <a:prstDash val="solid"/>
          </a:ln>
        </p:spPr>
      </p:sp>
      <p:sp>
        <p:nvSpPr>
          <p:cNvPr id="39" name="Shape 37"/>
          <p:cNvSpPr/>
          <p:nvPr/>
        </p:nvSpPr>
        <p:spPr>
          <a:xfrm>
            <a:off x="4480560" y="2834640"/>
            <a:ext cx="0" cy="256032"/>
          </a:xfrm>
          <a:prstGeom prst="line">
            <a:avLst/>
          </a:prstGeom>
          <a:noFill/>
          <a:ln w="12700">
            <a:solidFill>
              <a:srgbClr val="155DD3"/>
            </a:solidFill>
            <a:prstDash val="solid"/>
          </a:ln>
        </p:spPr>
      </p:sp>
      <p:sp>
        <p:nvSpPr>
          <p:cNvPr id="40" name="Text 38"/>
          <p:cNvSpPr txBox="1"/>
          <p:nvPr/>
        </p:nvSpPr>
        <p:spPr>
          <a:xfrm>
            <a:off x="2889504" y="2770632"/>
            <a:ext cx="1261872"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15 / 15</a:t>
            </a:r>
            <a:endParaRPr lang="en-US" sz="1300" dirty="0"/>
          </a:p>
        </p:txBody>
      </p:sp>
      <p:sp>
        <p:nvSpPr>
          <p:cNvPr id="41" name="Text 39"/>
          <p:cNvSpPr txBox="1"/>
          <p:nvPr/>
        </p:nvSpPr>
        <p:spPr>
          <a:xfrm>
            <a:off x="2560320" y="3172968"/>
            <a:ext cx="192024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checks pass on its mesh</a:t>
            </a:r>
            <a:endParaRPr lang="en-US" sz="1100" dirty="0"/>
          </a:p>
        </p:txBody>
      </p:sp>
      <p:sp>
        <p:nvSpPr>
          <p:cNvPr id="42" name="Shape 40"/>
          <p:cNvSpPr/>
          <p:nvPr/>
        </p:nvSpPr>
        <p:spPr>
          <a:xfrm>
            <a:off x="4663440" y="2962656"/>
            <a:ext cx="1920240" cy="0"/>
          </a:xfrm>
          <a:prstGeom prst="line">
            <a:avLst/>
          </a:prstGeom>
          <a:noFill/>
          <a:ln w="15875">
            <a:solidFill>
              <a:srgbClr val="155DD3"/>
            </a:solidFill>
            <a:prstDash val="solid"/>
            <a:headEnd type="triangle"/>
            <a:tailEnd type="triangle"/>
          </a:ln>
        </p:spPr>
      </p:sp>
      <p:sp>
        <p:nvSpPr>
          <p:cNvPr id="43" name="Shape 41"/>
          <p:cNvSpPr/>
          <p:nvPr/>
        </p:nvSpPr>
        <p:spPr>
          <a:xfrm>
            <a:off x="4663440" y="2834640"/>
            <a:ext cx="0" cy="256032"/>
          </a:xfrm>
          <a:prstGeom prst="line">
            <a:avLst/>
          </a:prstGeom>
          <a:noFill/>
          <a:ln w="12700">
            <a:solidFill>
              <a:srgbClr val="155DD3"/>
            </a:solidFill>
            <a:prstDash val="solid"/>
          </a:ln>
        </p:spPr>
      </p:sp>
      <p:sp>
        <p:nvSpPr>
          <p:cNvPr id="44" name="Shape 42"/>
          <p:cNvSpPr/>
          <p:nvPr/>
        </p:nvSpPr>
        <p:spPr>
          <a:xfrm>
            <a:off x="6583680" y="2834640"/>
            <a:ext cx="0" cy="256032"/>
          </a:xfrm>
          <a:prstGeom prst="line">
            <a:avLst/>
          </a:prstGeom>
          <a:noFill/>
          <a:ln w="12700">
            <a:solidFill>
              <a:srgbClr val="155DD3"/>
            </a:solidFill>
            <a:prstDash val="solid"/>
          </a:ln>
        </p:spPr>
      </p:sp>
      <p:sp>
        <p:nvSpPr>
          <p:cNvPr id="45" name="Text 43"/>
          <p:cNvSpPr txBox="1"/>
          <p:nvPr/>
        </p:nvSpPr>
        <p:spPr>
          <a:xfrm>
            <a:off x="4846320" y="2770632"/>
            <a:ext cx="1554480"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5 A/B parts</a:t>
            </a:r>
            <a:endParaRPr lang="en-US" sz="1300" dirty="0"/>
          </a:p>
        </p:txBody>
      </p:sp>
      <p:sp>
        <p:nvSpPr>
          <p:cNvPr id="46" name="Text 44"/>
          <p:cNvSpPr txBox="1"/>
          <p:nvPr/>
        </p:nvSpPr>
        <p:spPr>
          <a:xfrm>
            <a:off x="4663440" y="3172968"/>
            <a:ext cx="192024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judged blind against humans</a:t>
            </a:r>
            <a:endParaRPr lang="en-US" sz="1100" dirty="0"/>
          </a:p>
        </p:txBody>
      </p:sp>
      <p:sp>
        <p:nvSpPr>
          <p:cNvPr id="47" name="Shape 45"/>
          <p:cNvSpPr/>
          <p:nvPr/>
        </p:nvSpPr>
        <p:spPr>
          <a:xfrm>
            <a:off x="6766560" y="2962656"/>
            <a:ext cx="1920240" cy="0"/>
          </a:xfrm>
          <a:prstGeom prst="line">
            <a:avLst/>
          </a:prstGeom>
          <a:noFill/>
          <a:ln w="15875">
            <a:solidFill>
              <a:srgbClr val="155DD3"/>
            </a:solidFill>
            <a:prstDash val="solid"/>
            <a:headEnd type="triangle"/>
            <a:tailEnd type="triangle"/>
          </a:ln>
        </p:spPr>
      </p:sp>
      <p:sp>
        <p:nvSpPr>
          <p:cNvPr id="48" name="Shape 46"/>
          <p:cNvSpPr/>
          <p:nvPr/>
        </p:nvSpPr>
        <p:spPr>
          <a:xfrm>
            <a:off x="6766560" y="2834640"/>
            <a:ext cx="0" cy="256032"/>
          </a:xfrm>
          <a:prstGeom prst="line">
            <a:avLst/>
          </a:prstGeom>
          <a:noFill/>
          <a:ln w="12700">
            <a:solidFill>
              <a:srgbClr val="155DD3"/>
            </a:solidFill>
            <a:prstDash val="solid"/>
          </a:ln>
        </p:spPr>
      </p:sp>
      <p:sp>
        <p:nvSpPr>
          <p:cNvPr id="49" name="Shape 47"/>
          <p:cNvSpPr/>
          <p:nvPr/>
        </p:nvSpPr>
        <p:spPr>
          <a:xfrm>
            <a:off x="8686800" y="2834640"/>
            <a:ext cx="0" cy="256032"/>
          </a:xfrm>
          <a:prstGeom prst="line">
            <a:avLst/>
          </a:prstGeom>
          <a:noFill/>
          <a:ln w="12700">
            <a:solidFill>
              <a:srgbClr val="155DD3"/>
            </a:solidFill>
            <a:prstDash val="solid"/>
          </a:ln>
        </p:spPr>
      </p:sp>
      <p:sp>
        <p:nvSpPr>
          <p:cNvPr id="50" name="Text 48"/>
          <p:cNvSpPr txBox="1"/>
          <p:nvPr/>
        </p:nvSpPr>
        <p:spPr>
          <a:xfrm>
            <a:off x="7150608" y="2770632"/>
            <a:ext cx="1152144" cy="384048"/>
          </a:xfrm>
          <a:prstGeom prst="rect">
            <a:avLst/>
          </a:prstGeom>
          <a:solidFill>
            <a:srgbClr val="F3F7FE"/>
          </a:solidFill>
          <a:ln/>
        </p:spPr>
        <p:txBody>
          <a:bodyPr wrap="square" lIns="0" tIns="0" rIns="0" bIns="0" rtlCol="0" anchor="ctr"/>
          <a:lstStyle/>
          <a:p>
            <a:pPr algn="ctr" indent="0" marL="0">
              <a:buNone/>
            </a:pPr>
            <a:r>
              <a:rPr lang="en-US" sz="1300" b="1" dirty="0">
                <a:solidFill>
                  <a:srgbClr val="155DD3"/>
                </a:solidFill>
                <a:latin typeface="Courier New" pitchFamily="34" charset="0"/>
                <a:ea typeface="Courier New" pitchFamily="34" charset="-122"/>
                <a:cs typeface="Courier New" pitchFamily="34" charset="-120"/>
              </a:rPr>
              <a:t>3 docs</a:t>
            </a:r>
            <a:endParaRPr lang="en-US" sz="1300" dirty="0"/>
          </a:p>
        </p:txBody>
      </p:sp>
      <p:sp>
        <p:nvSpPr>
          <p:cNvPr id="51" name="Text 49"/>
          <p:cNvSpPr txBox="1"/>
          <p:nvPr/>
        </p:nvSpPr>
        <p:spPr>
          <a:xfrm>
            <a:off x="6766560" y="3172968"/>
            <a:ext cx="1920240" cy="274320"/>
          </a:xfrm>
          <a:prstGeom prst="rect">
            <a:avLst/>
          </a:prstGeom>
          <a:noFill/>
          <a:ln/>
        </p:spPr>
        <p:txBody>
          <a:bodyPr wrap="square" lIns="0" tIns="0" rIns="0" bIns="0" rtlCol="0" anchor="ctr"/>
          <a:lstStyle/>
          <a:p>
            <a:pPr algn="ctr" indent="0" marL="0">
              <a:buNone/>
            </a:pPr>
            <a:r>
              <a:rPr lang="en-US" sz="1100" dirty="0">
                <a:solidFill>
                  <a:srgbClr val="5B6982"/>
                </a:solidFill>
                <a:latin typeface="Calibri" pitchFamily="34" charset="0"/>
                <a:ea typeface="Calibri" pitchFamily="34" charset="-122"/>
                <a:cs typeface="Calibri" pitchFamily="34" charset="-120"/>
              </a:rPr>
              <a:t>design rev B · hand-off · eval reports</a:t>
            </a:r>
            <a:endParaRPr lang="en-US" sz="1100" dirty="0"/>
          </a:p>
        </p:txBody>
      </p:sp>
      <p:sp>
        <p:nvSpPr>
          <p:cNvPr id="52" name="Text 50"/>
          <p:cNvSpPr txBox="1"/>
          <p:nvPr/>
        </p:nvSpPr>
        <p:spPr>
          <a:xfrm>
            <a:off x="457200" y="3657600"/>
            <a:ext cx="5120640" cy="1005840"/>
          </a:xfrm>
          <a:prstGeom prst="rect">
            <a:avLst/>
          </a:prstGeom>
          <a:noFill/>
          <a:ln/>
        </p:spPr>
        <p:txBody>
          <a:bodyPr wrap="square" lIns="0" tIns="0" rIns="0" bIns="0" rtlCol="0" anchor="t"/>
          <a:lstStyle/>
          <a:p>
            <a:pPr indent="0" marL="0">
              <a:spcAft>
                <a:spcPts val="400"/>
              </a:spcAft>
              <a:buNone/>
            </a:pPr>
            <a:r>
              <a:rPr lang="en-US" sz="1050" dirty="0">
                <a:solidFill>
                  <a:srgbClr val="3C485C"/>
                </a:solidFill>
                <a:latin typeface="Calibri" pitchFamily="34" charset="0"/>
                <a:ea typeface="Calibri" pitchFamily="34" charset="-122"/>
                <a:cs typeface="Calibri" pitchFamily="34" charset="-120"/>
              </a:rPr>
              <a:t>The UI was driven end to end in a headless browser at desktop and phone widths after each change; one real GPT-6 run is in eval/reports/gpt6-first-run. No real photo or print yet; rough edges are listed in docs/HANDOFF.md.</a:t>
            </a:r>
            <a:endParaRPr lang="en-US" sz="1050" dirty="0"/>
          </a:p>
          <a:p>
            <a:pPr indent="0" marL="0">
              <a:spcAft>
                <a:spcPts val="400"/>
              </a:spcAft>
              <a:buNone/>
            </a:pPr>
            <a:r>
              <a:rPr lang="en-US" sz="1050" dirty="0">
                <a:solidFill>
                  <a:srgbClr val="3C485C"/>
                </a:solidFill>
                <a:latin typeface="Calibri" pitchFamily="34" charset="0"/>
                <a:ea typeface="Calibri" pitchFamily="34" charset="-122"/>
                <a:cs typeface="Calibri" pitchFamily="34" charset="-120"/>
              </a:rPr>
              <a:t>Solo build; AI coding assistants used throughout, as the rules allow. OpenSCAD, BOSL2, OpenCV, trimesh and the OpenAI SDK are the third-party pillars — all disclosed.</a:t>
            </a:r>
            <a:endParaRPr lang="en-US" sz="1050" dirty="0"/>
          </a:p>
        </p:txBody>
      </p:sp>
      <p:sp>
        <p:nvSpPr>
          <p:cNvPr id="53" name="Text 51"/>
          <p:cNvSpPr txBox="1"/>
          <p:nvPr/>
        </p:nvSpPr>
        <p:spPr>
          <a:xfrm>
            <a:off x="5760720" y="3657600"/>
            <a:ext cx="2926080" cy="1005840"/>
          </a:xfrm>
          <a:prstGeom prst="rect">
            <a:avLst/>
          </a:prstGeom>
          <a:noFill/>
          <a:ln/>
        </p:spPr>
        <p:txBody>
          <a:bodyPr wrap="square" lIns="0" tIns="0" rIns="0" bIns="0" rtlCol="0" anchor="ctr"/>
          <a:lstStyle/>
          <a:p>
            <a:pPr indent="0" marL="0">
              <a:buNone/>
            </a:pPr>
            <a:r>
              <a:rPr lang="en-US" sz="1050" i="1" dirty="0">
                <a:solidFill>
                  <a:srgbClr val="3C485C"/>
                </a:solidFill>
                <a:latin typeface="Calibri" pitchFamily="34" charset="0"/>
                <a:ea typeface="Calibri" pitchFamily="34" charset="-122"/>
                <a:cs typeface="Calibri" pitchFamily="34" charset="-120"/>
              </a:rPr>
              <a:t>Thanks to HACK47 and the sponsors — OpenAI, whose Responses API runs every model call here, and Red Bull, who keep the house shipping.</a:t>
            </a:r>
            <a:endParaRPr lang="en-US" sz="1050" dirty="0"/>
          </a:p>
        </p:txBody>
      </p:sp>
      <p:sp>
        <p:nvSpPr>
          <p:cNvPr id="54" name="Text 52"/>
          <p:cNvSpPr txBox="1"/>
          <p:nvPr/>
        </p:nvSpPr>
        <p:spPr>
          <a:xfrm>
            <a:off x="457200" y="4773168"/>
            <a:ext cx="8229600" cy="228600"/>
          </a:xfrm>
          <a:prstGeom prst="rect">
            <a:avLst/>
          </a:prstGeom>
          <a:noFill/>
          <a:ln/>
        </p:spPr>
        <p:txBody>
          <a:bodyPr wrap="square" lIns="0" tIns="0" rIns="0" bIns="0" rtlCol="0" anchor="ctr"/>
          <a:lstStyle/>
          <a:p>
            <a:pPr indent="0" marL="0">
              <a:buNone/>
            </a:pPr>
            <a:r>
              <a:rPr lang="en-US" sz="850" dirty="0">
                <a:solidFill>
                  <a:srgbClr val="5B6982"/>
                </a:solidFill>
                <a:latin typeface="Courier New" pitchFamily="34" charset="0"/>
                <a:ea typeface="Courier New" pitchFamily="34" charset="-122"/>
                <a:cs typeface="Courier New" pitchFamily="34" charset="-120"/>
              </a:rPr>
              <a:t>github.com/KrishGup/kintsugi · docs/design.html · docs/HANDOFF.md · eval/reports/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142E"/>
        </a:solidFill>
      </p:bgPr>
    </p:bg>
    <p:spTree>
      <p:nvGrpSpPr>
        <p:cNvPr id="1" name=""/>
        <p:cNvGrpSpPr/>
        <p:nvPr/>
      </p:nvGrpSpPr>
      <p:grpSpPr>
        <a:xfrm>
          <a:off x="0" y="0"/>
          <a:ext cx="0" cy="0"/>
          <a:chOff x="0" y="0"/>
          <a:chExt cx="0" cy="0"/>
        </a:xfrm>
      </p:grpSpPr>
      <p:pic>
        <p:nvPicPr>
          <p:cNvPr id="2" name="Image 0" descr="X:\Code\26Projects\kitsug\docs\submission\img\logo-mark.png">    </p:cNvPr>
          <p:cNvPicPr>
            <a:picLocks noChangeAspect="1"/>
          </p:cNvPicPr>
          <p:nvPr/>
        </p:nvPicPr>
        <p:blipFill>
          <a:blip r:embed="rId1"/>
          <a:stretch>
            <a:fillRect/>
          </a:stretch>
        </p:blipFill>
        <p:spPr>
          <a:xfrm>
            <a:off x="548640" y="502920"/>
            <a:ext cx="640080" cy="640080"/>
          </a:xfrm>
          <a:prstGeom prst="rect">
            <a:avLst/>
          </a:prstGeom>
        </p:spPr>
      </p:pic>
      <p:sp>
        <p:nvSpPr>
          <p:cNvPr id="3" name="Text 0"/>
          <p:cNvSpPr txBox="1"/>
          <p:nvPr/>
        </p:nvSpPr>
        <p:spPr>
          <a:xfrm>
            <a:off x="548640" y="1280160"/>
            <a:ext cx="8046720" cy="1554480"/>
          </a:xfrm>
          <a:prstGeom prst="rect">
            <a:avLst/>
          </a:prstGeom>
          <a:noFill/>
          <a:ln/>
        </p:spPr>
        <p:txBody>
          <a:bodyPr wrap="square" lIns="0" tIns="0" rIns="0" bIns="0" rtlCol="0" anchor="ctr"/>
          <a:lstStyle/>
          <a:p>
            <a:pPr indent="0" marL="0">
              <a:buNone/>
            </a:pPr>
            <a:r>
              <a:rPr lang="en-US" sz="4000" b="1" dirty="0">
                <a:solidFill>
                  <a:srgbClr val="F3F7FE"/>
                </a:solidFill>
                <a:latin typeface="Arial" pitchFamily="34" charset="0"/>
                <a:ea typeface="Arial" pitchFamily="34" charset="-122"/>
                <a:cs typeface="Arial" pitchFamily="34" charset="-120"/>
              </a:rPr>
              <a:t>Photograph what broke.</a:t>
            </a:r>
            <a:endParaRPr lang="en-US" sz="4000" dirty="0"/>
          </a:p>
          <a:p>
            <a:pPr indent="0" marL="0">
              <a:buNone/>
            </a:pPr>
            <a:r>
              <a:rPr lang="en-US" sz="4000" b="1" dirty="0">
                <a:solidFill>
                  <a:srgbClr val="F3F7FE"/>
                </a:solidFill>
                <a:latin typeface="Arial" pitchFamily="34" charset="0"/>
                <a:ea typeface="Arial" pitchFamily="34" charset="-122"/>
                <a:cs typeface="Arial" pitchFamily="34" charset="-120"/>
              </a:rPr>
              <a:t>Print what fits.</a:t>
            </a:r>
            <a:endParaRPr lang="en-US" sz="4000" dirty="0"/>
          </a:p>
        </p:txBody>
      </p:sp>
      <p:sp>
        <p:nvSpPr>
          <p:cNvPr id="4" name="Text 1"/>
          <p:cNvSpPr txBox="1"/>
          <p:nvPr/>
        </p:nvSpPr>
        <p:spPr>
          <a:xfrm>
            <a:off x="548640" y="2880360"/>
            <a:ext cx="8046720" cy="457200"/>
          </a:xfrm>
          <a:prstGeom prst="rect">
            <a:avLst/>
          </a:prstGeom>
          <a:noFill/>
          <a:ln/>
        </p:spPr>
        <p:txBody>
          <a:bodyPr wrap="square" lIns="0" tIns="0" rIns="0" bIns="0" rtlCol="0" anchor="ctr"/>
          <a:lstStyle/>
          <a:p>
            <a:pPr indent="0" marL="0">
              <a:buNone/>
            </a:pPr>
            <a:r>
              <a:rPr lang="en-US" sz="1800" i="1" dirty="0">
                <a:solidFill>
                  <a:srgbClr val="6C9EF0"/>
                </a:solidFill>
                <a:latin typeface="Calibri" pitchFamily="34" charset="0"/>
                <a:ea typeface="Calibri" pitchFamily="34" charset="-122"/>
                <a:cs typeface="Calibri" pitchFamily="34" charset="-120"/>
              </a:rPr>
              <a:t>Off-grid, the repair is the supply chain.</a:t>
            </a:r>
            <a:endParaRPr lang="en-US" sz="1800" dirty="0"/>
          </a:p>
        </p:txBody>
      </p:sp>
      <p:sp>
        <p:nvSpPr>
          <p:cNvPr id="5" name="Text 2"/>
          <p:cNvSpPr txBox="1"/>
          <p:nvPr/>
        </p:nvSpPr>
        <p:spPr>
          <a:xfrm>
            <a:off x="548640" y="3749040"/>
            <a:ext cx="8046720" cy="365760"/>
          </a:xfrm>
          <a:prstGeom prst="rect">
            <a:avLst/>
          </a:prstGeom>
          <a:noFill/>
          <a:ln/>
        </p:spPr>
        <p:txBody>
          <a:bodyPr wrap="square" lIns="0" tIns="0" rIns="0" bIns="0" rtlCol="0" anchor="ctr"/>
          <a:lstStyle/>
          <a:p>
            <a:pPr indent="0" marL="0">
              <a:buNone/>
            </a:pPr>
            <a:r>
              <a:rPr lang="en-US" sz="1100" dirty="0">
                <a:solidFill>
                  <a:srgbClr val="BED4F9"/>
                </a:solidFill>
                <a:latin typeface="Courier New" pitchFamily="34" charset="0"/>
                <a:ea typeface="Courier New" pitchFamily="34" charset="-122"/>
                <a:cs typeface="Courier New" pitchFamily="34" charset="-120"/>
              </a:rPr>
              <a:t>github.com/KrishGup/kintsugi   ·   demo: kintsugi.orangecliff-df186167.eastus2.azurecontainerapps.io   ·   video: docs/submission/kintsugi-demo.mp4</a:t>
            </a:r>
            <a:endParaRPr lang="en-US" sz="1100" dirty="0"/>
          </a:p>
        </p:txBody>
      </p:sp>
      <p:sp>
        <p:nvSpPr>
          <p:cNvPr id="6" name="Text 3"/>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900" spc="200" kern="0" dirty="0">
                <a:solidFill>
                  <a:srgbClr val="BED4F9"/>
                </a:solidFill>
                <a:latin typeface="Courier New" pitchFamily="34" charset="0"/>
                <a:ea typeface="Courier New" pitchFamily="34" charset="-122"/>
                <a:cs typeface="Courier New" pitchFamily="34" charset="-120"/>
              </a:rPr>
              <a:t>KINTSUGI · HACK47: OFFGRID · Krish Gupta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Kintsugi — Photograph what broke. Print what fits.</dc:title>
  <dc:subject>PptxGenJS Presentation</dc:subject>
  <dc:creator>Krish Gupta</dc:creator>
  <cp:lastModifiedBy>Krish Gupta</cp:lastModifiedBy>
  <cp:revision>1</cp:revision>
  <dcterms:created xsi:type="dcterms:W3CDTF">2026-10-15T00:30:27Z</dcterms:created>
  <dcterms:modified xsi:type="dcterms:W3CDTF">2026-10-15T00:30:27Z</dcterms:modified>
</cp:coreProperties>
</file>